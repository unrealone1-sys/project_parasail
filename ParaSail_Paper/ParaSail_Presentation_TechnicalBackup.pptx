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ParaSail - one system fusing live ocean data, species models and conservation rules into a single explainable advisory. The name is a backronym: Predictive Advisory and Retrieval-Augmented System Advancing Informed Livelihoods.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crisis: overfishing share at record high, plastic flows tripling by 2040, half a billion livelihoods at stake. Land on the gap: information infrastructure, not willingness.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harms of the status quo: economic waste, ecological concentration of effort, avoidable safety risk, and institutional fragmentation. The fourth is the root cause of the first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existing tool class covers one column at most. ParaSail is the first to occupy all four: constraints before scores, explanations attached to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objective decomposed into eight verifiable objectives. The mission statement on the left is the one-line version used with pilot communities.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ingest open APIs and satellite archives, normalise onto a common grid, predict with mixed model families, retrieve regulations and local knowledge, then apply constraints before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Ingestion wraps every provider behind one interface with freshness contracts. Under outage the system degrades gracefully: cached fields plus age flags, never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representative per family: detector, fine-grained classifier, sequence model, tabular baseline, plus the embedding models that power retrieval. The optional LLM only summarises retrieved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LoRA freezes pretrained weights and learns low-rank additive updates. Under one percent trainable keeps adaptation within a mid-range GPU budget - the difference between a lab artifact and a deployable regional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Qdrant collections: text (rules and knowledge) and satellite tiles. Hybrid retrieval pre-filters by space and time, then ranks by similarity. The output is an advisory with its citations attached. Scalability: new regulations, guidance, satellite passes and whole regional corpora are added by chunking, embedding and upserting - knowledge lives in the corpus, not the weights, so no model retraining is ever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assistant layer: one self-hosted vision-language model serves summaries, grounded Q&amp;A and image reading. The guardrails are code, not prompts: citations must resolve, the advisory class is authoritative, refusal beats invention, every answer names its backend, and a deterministic template path covers GPU-less deployments. Validation family T5 asserts each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economic argument for self-hosting: at 10,000 questions per day, commercial per-token APIs would cost 16-55k dollars a year; the recommended tier is a 2,000-dollar GPU plus electricity. Four validated hardware tiers, from a 6 GB laptop (3B model) to multi-GPU regional deployments, ship with the reference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is a weighted sum: catch 45%, weather safety 25%, ecological term 30%. Monotonic in every input, thresholds fixed at 0.40/0.60/0.75. Constraints run before scoring - no weight configuration can legalise an illegal 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case study concentrates every challenge: closures, protected areas, volatile small pelagics, and a data-poor high-value taxon. Cross-hatch marks the June-July spawning closure on the sardine.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phases, each closed by a gate that must pass before the next begins. Gates map one-to-one onto the five test families - every capability claim is tied to a test, including the assistant's grounding and guardrail guarantees (T5).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findings: reliable live ingestion; exact rule enforcement; monotonic scoring; topically relevant retrieval; guarded assistant behaviour (T5); and a hardened service (T6) - rate limits, role gates, headers. Panels show the monotonicity sweeps from test family T3.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normative claim: constraints inside the objective function, trust earned through explainability and local adaptation. Then the five mandatory questions in one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26TH DIGITAL BLUE ECONOMY SUMMIT  ·  EXPERIMENTAL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572768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ParaSail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822960" y="29992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Advisory and Retrieval-Augmented System Advancing Informed Livelihoods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52958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geospatial decision support system for sustainable fishing, marine conservation and coastal livelihood resilience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2542032" cy="512064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1772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conservation constraints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02152" y="4617720"/>
            <a:ext cx="2542032" cy="512064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461772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by retrieval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4617720"/>
            <a:ext cx="2542032" cy="512064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461772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Adaptable by LoRA fine-tuning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0536" y="4617720"/>
            <a:ext cx="2542032" cy="512064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0536" y="461772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AI assistant (local)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Anantha Krishnan AS  ·  Naipunnya School of Management, Cherthala, India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·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blue economy under pressure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35.5%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assessed stocks fished beyond sustainable levels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FAO, State of World Fisheries 2023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28416" y="16916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328416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plastic entering the ocean every year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28416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UNEP, Turning off the Tap 2023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99632" y="16916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~3×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199632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projected growth of plastic flows by 2040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9632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UNEP, Turning off the Tap 2023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070848" y="16916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~492 M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9070848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supported by small-scale fisheries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70848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FAO, Illuminating Hidden Harvests 2023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434840"/>
            <a:ext cx="12188952" cy="1417320"/>
          </a:xfrm>
          <a:prstGeom prst="rect">
            <a:avLst/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10881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Rebuilding stocks under sound management pays; what is missing is the real-time information infrastructure for coastal actors to act on it.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FAO SOFIA 2023; UNEP 2023; OECD Global Plastics Outlook 2022; Cheung et al. 2010.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· CONSEQUENCES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harms of planning fishing blind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03504" cy="603504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700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81328" y="162763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Fuel, time and labour wasted on blind search for shifting fish distributions.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871216"/>
            <a:ext cx="603504" cy="603504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8712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81328" y="2798064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Ecological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Fishing pressure concentrates on spawning grounds, sensitive habitats and protected zones.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4041648"/>
            <a:ext cx="603504" cy="603504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041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81328" y="3968496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vessels put to sea without granular marine wind and wave guidance.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5212080"/>
            <a:ext cx="603504" cy="603504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5212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81328" y="513892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Weather apps, habitat studies, AIS analytics and regulations never speak to one another.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tools are fragmented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3867912"/>
                <a:gridCol w="1737360"/>
                <a:gridCol w="1828800"/>
                <a:gridCol w="1737360"/>
                <a:gridCol w="21031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 class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Weather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Fish context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Explainability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Weather applications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PFZ-style advisories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Habitat / SDM studies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AIS fleet analytics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Static regulations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4C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ParaSail (this work)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3492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existing tool class fuses weather, fish context, legality and explanation — the gap is architectural, not algorithmic.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PFZ: Potential Fishing Zone advisories (INCOIS). SDM: species distribution models.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ParaSail sets out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794760" cy="4480560"/>
          </a:xfrm>
          <a:prstGeom prst="roundRect">
            <a:avLst>
              <a:gd name="adj" fmla="val 1687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“Recommend safe, legal and ecologically responsible fishing windows — with the justification attached.”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4892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objectives, each mapped to a validation test family (T1–T4).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09160" y="16916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RO1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Fuse live open data into one quality-controlled geospatial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280720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RO2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aggregation and movement tendency, with habitat fallback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3922776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RO3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MPAs and closures as hard constraints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5038344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RO4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 regulations, guidance and local knowledge to every advisory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21040" y="16916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RO5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 locally via custom ingestion and LoRA fine-tuning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280720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RO6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Expose a production-style API and visual 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0" y="3922776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RO7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via live-fetch, rule, scoring and retrieval tests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5038344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RO8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 with blue-economy principles end to 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layers, one advisory</a:t>
            </a:r>
            <a:endParaRPr lang="en-US" sz="2800" dirty="0"/>
          </a:p>
        </p:txBody>
      </p:sp>
      <p:pic>
        <p:nvPicPr>
          <p:cNvPr id="4" name="Image 0" descr="deck_figures/fig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10881360" cy="48236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6396377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layer is independently replaceable and configured through YAML — region, species, closures, models and score weights are data, not code.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INGESTION AND PROCESSING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open data, normalised and audited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74066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06908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Source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Cadence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Open-Meteo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Hourly meteorological and marine forecasts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Hourly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Copernicus Marine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Near-real-time ocean analysis (SST, currents)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Daily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NASA ERDDAP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SST and chlorophyll-a fields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Daily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GBIF / OBIS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Historical species occurrences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Corpus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FishBase / WoRMS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Taxonomy, traits, seasonality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Corpus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Sentinel-2 / Sentinel-3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Multispectral satellite tiles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 pass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645920"/>
            <a:ext cx="3502152" cy="3977640"/>
          </a:xfrm>
          <a:prstGeom prst="roundRect">
            <a:avLst>
              <a:gd name="adj" fmla="val 1828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0392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 by design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03920" y="23317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contracts per source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caching with age tracking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contingency: advisories continue from cached fields, with explicit age flags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gates and taxonomy normalisation (WoRMS identifiers)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sources open-licensed or publicly documented; operating cost negligible at pilot volumes.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PREDICTION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selection: mixed families, deliberate trade-offs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49651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Task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Selected model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this one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Catch-image detection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YOLOv8n (Ultralytics)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Real-time on modest hardware; mature toolchain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Species classification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ViT-B/16 + LoRA (r = 8)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Fine-grained accuracy at under 1% trainable parameters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Movement tendency (24 h)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Two-layer LSTM (hidden 128)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Short-horizon sequences for data-rich species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Habitat suitability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Random forest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Interpretable fallback for data-poor taxa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 embeddings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all-MiniLM-L6-v2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 384-dimensional sentence embeddings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Satellite tile embeddings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OpenCLIP ViT-B/32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Similarity search over unlabelled tiles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Assistant: summaries, Q&amp;A, image reading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Qwen2.5-VL-7B (AWQ 4-bit) on vLLM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open-source VLM for all assistant jobs; 8-12 GB VRAM; batched local serving — no per-token API costs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064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criterion is coastal deployability, not leaderboard position — every model runs on mid-range hardware.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FINE-TUNING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adaptation at 0.34% of the parameters</a:t>
            </a:r>
            <a:endParaRPr lang="en-US" sz="2800" dirty="0"/>
          </a:p>
        </p:txBody>
      </p:sp>
      <p:pic>
        <p:nvPicPr>
          <p:cNvPr id="4" name="Image 0" descr="deck_figures/fig5_l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6309360" cy="40938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3760" y="1828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= W₀ + BA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223760" y="260604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 r = 8 updates on the query and value projections of all 12 encoder blocks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0.29 M of 85.8 M parameters trainable (0.34%) on ViT-B/16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converges within mid-range GPU memory</a:t>
            </a:r>
            <a:endParaRPr lang="en-US" sz="13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regions and species adapted through configuration and lightweight fine-tunes — no code edits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Trainable-parameter counts derived from the ViT-B/16 architecture; LoRA per Hu et al., ICLR 2022.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RETRIEVAL-AUGMENTED EXPLANATION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advisory carries its own justification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7947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5875">
            <a:solidFill>
              <a:srgbClr val="14707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288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collection (Qdrant)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Regulations, closure calendars, conservation guidance, local ecological knowledge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37947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5875">
            <a:solidFill>
              <a:srgbClr val="14707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9319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Satellite collection (Qdrant)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OpenCLIP tile embeddings with bounding-box and acquisition metadata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15968" y="2697480"/>
            <a:ext cx="749808" cy="566928"/>
          </a:xfrm>
          <a:prstGeom prst="line">
            <a:avLst/>
          </a:prstGeom>
          <a:noFill/>
          <a:ln w="27940">
            <a:solidFill>
              <a:srgbClr val="14707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4315968" y="3931920"/>
            <a:ext cx="749808" cy="566928"/>
          </a:xfrm>
          <a:prstGeom prst="line">
            <a:avLst/>
          </a:prstGeom>
          <a:noFill/>
          <a:ln w="27940">
            <a:solidFill>
              <a:srgbClr val="14707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66360" y="2788920"/>
            <a:ext cx="2743200" cy="1600200"/>
          </a:xfrm>
          <a:prstGeom prst="roundRect">
            <a:avLst>
              <a:gd name="adj" fmla="val 4000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94960" y="2926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top-k retrieval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Bounding-box + temporal pre-filter, then vector search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01000" y="3593592"/>
            <a:ext cx="502920" cy="0"/>
          </a:xfrm>
          <a:prstGeom prst="line">
            <a:avLst/>
          </a:prstGeom>
          <a:noFill/>
          <a:ln w="27940">
            <a:solidFill>
              <a:srgbClr val="14707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41080" y="2606040"/>
            <a:ext cx="3090672" cy="1965960"/>
          </a:xfrm>
          <a:prstGeom prst="roundRect">
            <a:avLst>
              <a:gd name="adj" fmla="val 3256"/>
            </a:avLst>
          </a:prstGeom>
          <a:solidFill>
            <a:srgbClr val="0A2E3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2761488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Advisory + cited context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Passages and tiles attached to every recommendation — the dashboard shows them next to the score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is the retrieval of verifiable sources — not generated prose.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 by design: new sources plug in as chunked documents — no model retraining; the corpus grows per region.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CONVERSATIONAL LAYER (P7)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grounded AI assistant explains - it never decides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5875">
            <a:solidFill>
              <a:srgbClr val="14707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745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 (grounding only)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advisory JSON · top-k retrieved passages · optional image (catch photo, tile, chart) · user question + language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24528" y="1691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E3EFF1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53128" y="18745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Qwen2.5-VL-7B (AWQ)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open-source VLM, Apache 2.0 · 4-bit weights ≈ 6.9 GB · served locally on vLLM with continuous batching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991856" y="1691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5875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0456" y="18745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 (in code)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Citations must resolve to retrieved passages · verdict is authoritative · refusal over invention · backend named on every answer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069080" y="2651760"/>
            <a:ext cx="109728" cy="0"/>
          </a:xfrm>
          <a:prstGeom prst="line">
            <a:avLst/>
          </a:prstGeom>
          <a:noFill/>
          <a:ln w="27940">
            <a:solidFill>
              <a:srgbClr val="14707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36408" y="2651760"/>
            <a:ext cx="109728" cy="0"/>
          </a:xfrm>
          <a:prstGeom prst="line">
            <a:avLst/>
          </a:prstGeom>
          <a:noFill/>
          <a:ln w="27940">
            <a:solidFill>
              <a:srgbClr val="14707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3977640"/>
            <a:ext cx="11274552" cy="1234440"/>
          </a:xfrm>
          <a:prstGeom prst="roundRect">
            <a:avLst>
              <a:gd name="adj" fmla="val 5185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97764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</a:t>
            </a:r>
            <a:pPr indent="0" marL="0">
              <a:buNone/>
            </a:pPr>
            <a:r>
              <a:rPr lang="en-US" sz="13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plain-language summary or cited answer + backend ID + authoritative verdict. If the GPU is down, a deterministic template path assembles the same schema from the same data — the website never goes dark.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440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and scalable by design: </a:t>
            </a:r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in ten coastal languages, vernacular fish names, localised Problem/Answer self-explanations, ocean news translated into the reader's language (English pivot); a runtime model registry switches quality against hardware (3B laptop "&gt; 72B datacenter).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1447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T5 asserts: class consistency, citation integrity, cache, fallback, backend naming. T6 asserts: rate limits, 401/403 role gates, security headers, body cap.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PRODUCTION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AI on one GPU - no API bills at any traffic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867912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 / profile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Sustains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7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 · laptop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RTX 4050 Laptop, 6 GB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Qwen2.5-VL-3B, Q4 · 6 k ctx · 1-2 concurrent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Personal use, demos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· pilot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RTX 3060/4070, 12 GB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7B AWQ · 8 k ctx · 8 concurrent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Thousands of requests/day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4A5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· recommended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RTX 4090 / NVIDIA L4, 24 GB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7B AWQ · 16 k ctx · 32-64 concurrent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Tens of thousands/day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· regional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2-4× L4/A10G + LB, or A100 40 GB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7B AWQ replicas + semantic cache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32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Millions of requests/year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4617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 per question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inference: the marginal cost of an answer is electricity.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297680" y="44348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53712" y="4617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~$16-55k/yr avoided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Per-token billing for 10k questions/day at commercial API rates.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138160" y="44348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94192" y="4617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~$2k once + $315/yr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recommended 24 GB tier: one GPU plus power, owned outright.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Hardened for public traffic: per-endpoint rate limits, API-key RBAC (public/officer/admin), security headers, audit log; ships as an installable PWA with an offline app shell (tailnet deployment guide). Serving: vLLM + AWQ, semaphore + summary cache.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· ADVISORY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transparent sustainability index</a:t>
            </a:r>
            <a:endParaRPr lang="en-US" sz="2800" dirty="0"/>
          </a:p>
        </p:txBody>
      </p:sp>
      <p:pic>
        <p:nvPicPr>
          <p:cNvPr id="4" name="Image 0" descr="deck_figures/fig2_sc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5943600" cy="39861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1783080"/>
            <a:ext cx="4965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= 0.45·C + 0.25·W + 0.30·(1 − B)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766560" y="251460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9264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 ≥ 0.75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66560" y="3081528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PROCEED WITH CAUTION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92640" y="3081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0.60 ≤ S &lt; 0.75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66560" y="3648456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 OR RELOCATE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92640" y="36484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0.40 ≤ S &lt; 0.60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766560" y="4215384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42153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FISH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92640" y="42153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 &lt; 0.40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766560" y="4983480"/>
            <a:ext cx="4965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rule: </a:t>
            </a:r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an active MPA or seasonal closure, the advisory is DO NOT FISH — regardless of score. Weights are configuration, owned by governance, not hidden constants.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 shows S over catch likelihood (C) and weather safety (W) at bycatch risk B = 0.20.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Southwest coast of India</a:t>
            </a:r>
            <a:endParaRPr lang="en-US" sz="2800" dirty="0"/>
          </a:p>
        </p:txBody>
      </p:sp>
      <p:pic>
        <p:nvPicPr>
          <p:cNvPr id="4" name="Image 0" descr="deck_figures/fig4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6492240" cy="35235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78308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coast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0" y="2240280"/>
            <a:ext cx="44165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closure regime: June–July monsoon closure, spawning protection for the oil sardine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network of marine protected areas enforced as hard constraints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Sardine and mackerel fisheries dominate — and fluctuate strongly year to year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coastal cities anchor the live-fetch validation tests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0" y="4892040"/>
            <a:ext cx="4416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Registry: </a:t>
            </a:r>
            <a:pPr indent="0" marL="0">
              <a:buNone/>
            </a:pPr>
            <a:r>
              <a:rPr lang="en-US" sz="1150" i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Sardinella longiceps, Rastrelliger kanagurta, Thunnus tonggol, Penaeus monodon — the prawn exercises the data-poor habitat fallback.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 is the schematic configured for the case study; landings context: ICAR-CMFRI.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Phase-gate engineering, test-driven acceptance</a:t>
            </a:r>
            <a:endParaRPr lang="en-US" sz="2800" dirty="0"/>
          </a:p>
        </p:txBody>
      </p:sp>
      <p:pic>
        <p:nvPicPr>
          <p:cNvPr id="4" name="Image 0" descr="deck_figures/fig3_ph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74552" cy="414371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23560"/>
            <a:ext cx="1773936" cy="566928"/>
          </a:xfrm>
          <a:prstGeom prst="roundRect">
            <a:avLst>
              <a:gd name="adj" fmla="val 16129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62356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fetch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68296" y="5623560"/>
            <a:ext cx="1773936" cy="566928"/>
          </a:xfrm>
          <a:prstGeom prst="roundRect">
            <a:avLst>
              <a:gd name="adj" fmla="val 16129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68296" y="562356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T2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enforcement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79392" y="5623560"/>
            <a:ext cx="1773936" cy="566928"/>
          </a:xfrm>
          <a:prstGeom prst="roundRect">
            <a:avLst>
              <a:gd name="adj" fmla="val 16129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79392" y="562356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T3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behaviour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90488" y="5623560"/>
            <a:ext cx="1773936" cy="566928"/>
          </a:xfrm>
          <a:prstGeom prst="roundRect">
            <a:avLst>
              <a:gd name="adj" fmla="val 16129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0488" y="562356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T4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relevance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101584" y="5623560"/>
            <a:ext cx="1773936" cy="566928"/>
          </a:xfrm>
          <a:prstGeom prst="roundRect">
            <a:avLst>
              <a:gd name="adj" fmla="val 16129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01584" y="562356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T5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 behaviour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0012680" y="5623560"/>
            <a:ext cx="1773936" cy="566928"/>
          </a:xfrm>
          <a:prstGeom prst="roundRect">
            <a:avLst>
              <a:gd name="adj" fmla="val 16129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12680" y="562356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T6  </a:t>
            </a:r>
            <a:pPr algn="ctr" indent="0" marL="0">
              <a:buNone/>
            </a:pPr>
            <a:r>
              <a:rPr lang="en-US" sz="9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behaviour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end to end</a:t>
            </a:r>
            <a:endParaRPr lang="en-US" sz="2800" dirty="0"/>
          </a:p>
        </p:txBody>
      </p:sp>
      <p:pic>
        <p:nvPicPr>
          <p:cNvPr id="4" name="Image 0" descr="deck_figures/fig6_monoton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463040"/>
            <a:ext cx="9692640" cy="35231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74920"/>
            <a:ext cx="1773936" cy="1325880"/>
          </a:xfrm>
          <a:prstGeom prst="roundRect">
            <a:avLst>
              <a:gd name="adj" fmla="val 4828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" y="519379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fetches reliable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degradation under outage, with explicit age flags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368296" y="5074920"/>
            <a:ext cx="1773936" cy="1325880"/>
          </a:xfrm>
          <a:prstGeom prst="roundRect">
            <a:avLst>
              <a:gd name="adj" fmla="val 4828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478024" y="519379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Closure blocks exact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June sardine request returns DO NOT FISH with the reason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79392" y="5074920"/>
            <a:ext cx="1773936" cy="1325880"/>
          </a:xfrm>
          <a:prstGeom prst="roundRect">
            <a:avLst>
              <a:gd name="adj" fmla="val 4828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389120" y="519379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monotonic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every input; class thresholds land exactly as configured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90488" y="5074920"/>
            <a:ext cx="1773936" cy="1325880"/>
          </a:xfrm>
          <a:prstGeom prst="roundRect">
            <a:avLst>
              <a:gd name="adj" fmla="val 4828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0216" y="519379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relevant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context attached to every advisory on the dashboard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01584" y="5074920"/>
            <a:ext cx="1773936" cy="1325880"/>
          </a:xfrm>
          <a:prstGeom prst="roundRect">
            <a:avLst>
              <a:gd name="adj" fmla="val 4828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11312" y="519379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 guarded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Citations resolve; verdicts hold; template fallback exact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012680" y="5074920"/>
            <a:ext cx="1773936" cy="1325880"/>
          </a:xfrm>
          <a:prstGeom prst="roundRect">
            <a:avLst>
              <a:gd name="adj" fmla="val 4828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122408" y="519379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hardened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limits 429; 401/403 role gates; headers on every response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Panels: one-at-a-time sweeps over C, W and B (markers = baseline point); illustrative of the configured function.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Conservation, legality and safety are built into the objective function — ParaSail cannot recommend an illegal trip under any configuration.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alignment: SDG 14 (Life Below Water)  ·  supporting: SDG 2 · 8 · 9 · 13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mandatory summit questions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· Problem   </a:t>
            </a:r>
            <a:pPr indent="0" marL="0">
              <a:buNone/>
            </a:pPr>
            <a:r>
              <a:rPr lang="en-US" sz="115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real-time, integrated, explainable advisory system for sustainable fishing in data-poor regions.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3867912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· Importance   </a:t>
            </a:r>
            <a:pPr indent="0" marL="0">
              <a:buNone/>
            </a:pPr>
            <a:r>
              <a:rPr lang="en-US" sz="115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Livelihoods, food security, marine conservation and safety all meet at this one information gap.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398264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· Technology   </a:t>
            </a:r>
            <a:pPr indent="0" marL="0">
              <a:buNone/>
            </a:pPr>
            <a:r>
              <a:rPr lang="en-US" sz="115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Geospatial AI (YOLOv8, ViT + LoRA, LSTM, random forest), dual-collection RAG, a self-hosted Qwen2.5-VL-7B assistant on vLLM with a runtime model registry, open live APIs, FastAPI + PostGIS + Qdrant; hardened with rate limiting and RBAC, shipped as an installable PWA.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928616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 · Evidence   </a:t>
            </a:r>
            <a:pPr indent="0" marL="0">
              <a:buNone/>
            </a:pPr>
            <a:r>
              <a:rPr lang="en-US" sz="115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environmental, biodiversity and satellite data; regulation datasets; a working system validated by five test families.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5458968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Q5 · Contribution   </a:t>
            </a:r>
            <a:pPr indent="0" marL="0">
              <a:buNone/>
            </a:pPr>
            <a:r>
              <a:rPr lang="en-US" sz="115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production-grade platform issuing sustainability-scored, explainable, conversational advisories with conservation enforced as a hard constraint - on local AI, within 8-12 GB VRAM, at zero marginal cost.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·  Anantha Krishnan AS  ·  Naipunnya School of Management, Cherthala, India  ·  26th Digital Blue Economy Summit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ParaSail - Predictive Advisory and Retrieval-Augmented System Advancing Informed Livelihoods</dc:title>
  <dc:subject>PptxGenJS Presentation</dc:subject>
  <dc:creator>Anantha Krishnan AS</dc:creator>
  <cp:lastModifiedBy>Anantha Krishnan AS</cp:lastModifiedBy>
  <cp:revision>1</cp:revision>
  <dcterms:created xsi:type="dcterms:W3CDTF">2026-09-13T07:12:33Z</dcterms:created>
  <dcterms:modified xsi:type="dcterms:W3CDTF">2026-09-13T07:12:33Z</dcterms:modified>
</cp:coreProperties>
</file>