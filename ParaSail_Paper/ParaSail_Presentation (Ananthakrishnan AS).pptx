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three questions every fisher asks before sailing. ParaSail answers all three in one place, in plain language. The deck is interactive: the next slide is a contents hub - every card jumps to its section, and the ☰ CONTENTS link returns here from any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contents: each card is a hyperlink to its slide. Use it to jump around during Q&amp;A instead of paging 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it in one slide: a third of stocks overfished, plastic tripling, half a billion livelihoods - and four daily problems: fish move, spawning is disturbed, the sea is dangerous, and the rules are hard to check at sea. Everything that follows answers these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answers are a traffic light everyone already understands. Reveal them one at a time - ask the room to guess the colour for 'rough seas with young fish nearby'. The hard rule: protected areas and closed seasons are always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change fishers asked for: instead of a paragraph, the explanation now arrives as separate, checkable points - verdict, conditions, fish likelihood, ecological risk. And while it works, an animated cue shows progress.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honesty guarantees on one slide. The likely-fish zone is clipped to real shoreline geometry - no lakes, no land. Protected areas use real boundaries, and if you are inside one the answer is STOP with the park named.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 helper answers in the fisher's own words and language, cites sources, and is honest about what hardware it is actually running on - if the model is missing it says so and prints the install command instead of pretending. It explains the advisory; it can never override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findings in plain terms: reliable data even offline, closures always respected, sensible changes with conditions, correct explanations, zones that stay at sea, and an AI that explains without overruling.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winners - fishers, the ocean, communities, authorities - and one system. Close the loop with what is next: a season-long community trial and voice guidance.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promise: fish smarter, stay safe, keep the ocean giving - then thank the audience and invite questions. The ☰ CONTENTS link returns to the hub for jumping back into any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" Target="slide4.xml"/><Relationship Id="rId8" Type="http://schemas.openxmlformats.org/officeDocument/2006/relationships/slide" Target="slide4.xml"/><Relationship Id="rId9" Type="http://schemas.openxmlformats.org/officeDocument/2006/relationships/slide" Target="slide5.xml"/><Relationship Id="rId10" Type="http://schemas.openxmlformats.org/officeDocument/2006/relationships/slide" Target="slide5.xml"/><Relationship Id="rId11" Type="http://schemas.openxmlformats.org/officeDocument/2006/relationships/slide" Target="slide5.xml"/><Relationship Id="rId12" Type="http://schemas.openxmlformats.org/officeDocument/2006/relationships/slide" Target="slide5.xml"/><Relationship Id="rId13" Type="http://schemas.openxmlformats.org/officeDocument/2006/relationships/slide" Target="slide6.xml"/><Relationship Id="rId14" Type="http://schemas.openxmlformats.org/officeDocument/2006/relationships/slide" Target="slide6.xml"/><Relationship Id="rId15" Type="http://schemas.openxmlformats.org/officeDocument/2006/relationships/slide" Target="slide6.xml"/><Relationship Id="rId16" Type="http://schemas.openxmlformats.org/officeDocument/2006/relationships/slide" Target="slide6.xml"/><Relationship Id="rId17" Type="http://schemas.openxmlformats.org/officeDocument/2006/relationships/slide" Target="slide7.xml"/><Relationship Id="rId18" Type="http://schemas.openxmlformats.org/officeDocument/2006/relationships/slide" Target="slide7.xml"/><Relationship Id="rId19" Type="http://schemas.openxmlformats.org/officeDocument/2006/relationships/slide" Target="slide7.xml"/><Relationship Id="rId20" Type="http://schemas.openxmlformats.org/officeDocument/2006/relationships/slide" Target="slide7.xml"/><Relationship Id="rId21" Type="http://schemas.openxmlformats.org/officeDocument/2006/relationships/slide" Target="slide8.xml"/><Relationship Id="rId22" Type="http://schemas.openxmlformats.org/officeDocument/2006/relationships/slide" Target="slide8.xml"/><Relationship Id="rId23" Type="http://schemas.openxmlformats.org/officeDocument/2006/relationships/slide" Target="slide8.xml"/><Relationship Id="rId24" Type="http://schemas.openxmlformats.org/officeDocument/2006/relationships/slide" Target="slide8.xml"/><Relationship Id="rId25" Type="http://schemas.openxmlformats.org/officeDocument/2006/relationships/slide" Target="slide9.xml"/><Relationship Id="rId26" Type="http://schemas.openxmlformats.org/officeDocument/2006/relationships/slide" Target="slide9.xml"/><Relationship Id="rId27" Type="http://schemas.openxmlformats.org/officeDocument/2006/relationships/slide" Target="slide9.xml"/><Relationship Id="rId28" Type="http://schemas.openxmlformats.org/officeDocument/2006/relationships/slide" Target="slide9.xml"/><Relationship Id="rId29" Type="http://schemas.openxmlformats.org/officeDocument/2006/relationships/slide" Target="slide10.xml"/><Relationship Id="rId30" Type="http://schemas.openxmlformats.org/officeDocument/2006/relationships/slide" Target="slide10.xml"/><Relationship Id="rId31" Type="http://schemas.openxmlformats.org/officeDocument/2006/relationships/slide" Target="slide10.xml"/><Relationship Id="rId32" Type="http://schemas.openxmlformats.org/officeDocument/2006/relationships/slide" Target="slide10.xml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4300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26TH DIGITAL BLUE ECONOMY SUMMIT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517904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2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ParaSail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822960" y="2944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smart guide for safer fishing and healthier oceans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DB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Advisory and Retrieval-Augmented System Advancing Informed Livelihoods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4315968"/>
            <a:ext cx="3383280" cy="566928"/>
          </a:xfrm>
          <a:prstGeom prst="roundRect">
            <a:avLst>
              <a:gd name="adj" fmla="val 50000"/>
            </a:avLst>
          </a:prstGeom>
          <a:solidFill>
            <a:srgbClr val="12455A"/>
          </a:solidFill>
          <a:ln w="12700">
            <a:solidFill>
              <a:srgbClr val="2A5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1596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it safe to sail?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4315968"/>
            <a:ext cx="3383280" cy="566928"/>
          </a:xfrm>
          <a:prstGeom prst="roundRect">
            <a:avLst>
              <a:gd name="adj" fmla="val 50000"/>
            </a:avLst>
          </a:prstGeom>
          <a:solidFill>
            <a:srgbClr val="12455A"/>
          </a:solidFill>
          <a:ln w="12700">
            <a:solidFill>
              <a:srgbClr val="2A5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431596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 the fish there?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4315968"/>
            <a:ext cx="3383280" cy="566928"/>
          </a:xfrm>
          <a:prstGeom prst="roundRect">
            <a:avLst>
              <a:gd name="adj" fmla="val 50000"/>
            </a:avLst>
          </a:prstGeom>
          <a:solidFill>
            <a:srgbClr val="12455A"/>
          </a:solidFill>
          <a:ln w="12700">
            <a:solidFill>
              <a:srgbClr val="2A5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431596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F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it allowed?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simple answer to all three questions - before you leave the harbour.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Anantha Krishnan AS  ·  Naipunnya School of Management, Cherthala, India  ·  September 2026</a:t>
            </a:r>
            <a:endParaRPr lang="en-US" sz="12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cover</a:t>
            </a:r>
            <a:endParaRPr lang="en-US" sz="2800" dirty="0"/>
          </a:p>
        </p:txBody>
      </p:sp>
      <p:sp>
        <p:nvSpPr>
          <p:cNvPr id="4" name="Shape 2">
            <a:hlinkClick r:id="rId1" tooltip="" action="ppaction://hlinksldjump"/>
          </p:cNvPr>
          <p:cNvSpPr/>
          <p:nvPr/>
        </p:nvSpPr>
        <p:spPr>
          <a:xfrm>
            <a:off x="457200" y="1572768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>
            <a:hlinkClick r:id="rId2" tooltip="" action="ppaction://hlinksldjump"/>
          </p:cNvPr>
          <p:cNvSpPr/>
          <p:nvPr/>
        </p:nvSpPr>
        <p:spPr>
          <a:xfrm>
            <a:off x="658368" y="1700784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14707C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2200" dirty="0"/>
          </a:p>
        </p:txBody>
      </p:sp>
      <p:sp>
        <p:nvSpPr>
          <p:cNvPr id="6" name="Text 4">
            <a:hlinkClick r:id="rId3" tooltip="" action="ppaction://hlinksldjump"/>
          </p:cNvPr>
          <p:cNvSpPr/>
          <p:nvPr/>
        </p:nvSpPr>
        <p:spPr>
          <a:xfrm>
            <a:off x="1325880" y="169164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problem</a:t>
            </a:r>
            <a:endParaRPr lang="en-US" sz="1350" dirty="0"/>
          </a:p>
        </p:txBody>
      </p:sp>
      <p:sp>
        <p:nvSpPr>
          <p:cNvPr id="7" name="Text 5">
            <a:hlinkClick r:id="rId4" tooltip="" action="ppaction://hlinksldjump"/>
          </p:cNvPr>
          <p:cNvSpPr/>
          <p:nvPr/>
        </p:nvSpPr>
        <p:spPr>
          <a:xfrm>
            <a:off x="1325880" y="202082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fishers and the ocean both need better information</a:t>
            </a:r>
            <a:endParaRPr lang="en-US" sz="1050" dirty="0"/>
          </a:p>
        </p:txBody>
      </p:sp>
      <p:sp>
        <p:nvSpPr>
          <p:cNvPr id="8" name="Shape 6">
            <a:hlinkClick r:id="rId5" tooltip="" action="ppaction://hlinksldjump"/>
          </p:cNvPr>
          <p:cNvSpPr/>
          <p:nvPr/>
        </p:nvSpPr>
        <p:spPr>
          <a:xfrm>
            <a:off x="6291072" y="1572768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>
            <a:hlinkClick r:id="rId6" tooltip="" action="ppaction://hlinksldjump"/>
          </p:cNvPr>
          <p:cNvSpPr/>
          <p:nvPr/>
        </p:nvSpPr>
        <p:spPr>
          <a:xfrm>
            <a:off x="6492240" y="1700784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14707C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2200" dirty="0"/>
          </a:p>
        </p:txBody>
      </p:sp>
      <p:sp>
        <p:nvSpPr>
          <p:cNvPr id="10" name="Text 8">
            <a:hlinkClick r:id="rId7" tooltip="" action="ppaction://hlinksldjump"/>
          </p:cNvPr>
          <p:cNvSpPr/>
          <p:nvPr/>
        </p:nvSpPr>
        <p:spPr>
          <a:xfrm>
            <a:off x="7159752" y="169164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answer</a:t>
            </a:r>
            <a:endParaRPr lang="en-US" sz="1350" dirty="0"/>
          </a:p>
        </p:txBody>
      </p:sp>
      <p:sp>
        <p:nvSpPr>
          <p:cNvPr id="11" name="Text 9">
            <a:hlinkClick r:id="rId8" tooltip="" action="ppaction://hlinksldjump"/>
          </p:cNvPr>
          <p:cNvSpPr/>
          <p:nvPr/>
        </p:nvSpPr>
        <p:spPr>
          <a:xfrm>
            <a:off x="7159752" y="202082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One clear answer: GO, GO CAREFULLY, WAIT OR MOVE, STOP</a:t>
            </a:r>
            <a:endParaRPr lang="en-US" sz="1050" dirty="0"/>
          </a:p>
        </p:txBody>
      </p:sp>
      <p:sp>
        <p:nvSpPr>
          <p:cNvPr id="12" name="Shape 10">
            <a:hlinkClick r:id="rId9" tooltip="" action="ppaction://hlinksldjump"/>
          </p:cNvPr>
          <p:cNvSpPr/>
          <p:nvPr/>
        </p:nvSpPr>
        <p:spPr>
          <a:xfrm>
            <a:off x="457200" y="2596896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>
            <a:hlinkClick r:id="rId10" tooltip="" action="ppaction://hlinksldjump"/>
          </p:cNvPr>
          <p:cNvSpPr/>
          <p:nvPr/>
        </p:nvSpPr>
        <p:spPr>
          <a:xfrm>
            <a:off x="658368" y="2724912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14707C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2200" dirty="0"/>
          </a:p>
        </p:txBody>
      </p:sp>
      <p:sp>
        <p:nvSpPr>
          <p:cNvPr id="14" name="Text 12">
            <a:hlinkClick r:id="rId11" tooltip="" action="ppaction://hlinksldjump"/>
          </p:cNvPr>
          <p:cNvSpPr/>
          <p:nvPr/>
        </p:nvSpPr>
        <p:spPr>
          <a:xfrm>
            <a:off x="1325880" y="271576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you see</a:t>
            </a:r>
            <a:endParaRPr lang="en-US" sz="1350" dirty="0"/>
          </a:p>
        </p:txBody>
      </p:sp>
      <p:sp>
        <p:nvSpPr>
          <p:cNvPr id="15" name="Text 13">
            <a:hlinkClick r:id="rId12" tooltip="" action="ppaction://hlinksldjump"/>
          </p:cNvPr>
          <p:cNvSpPr/>
          <p:nvPr/>
        </p:nvSpPr>
        <p:spPr>
          <a:xfrm>
            <a:off x="1325880" y="304495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answer in plain words - with its reasons listed</a:t>
            </a:r>
            <a:endParaRPr lang="en-US" sz="1050" dirty="0"/>
          </a:p>
        </p:txBody>
      </p:sp>
      <p:sp>
        <p:nvSpPr>
          <p:cNvPr id="16" name="Shape 14">
            <a:hlinkClick r:id="rId13" tooltip="" action="ppaction://hlinksldjump"/>
          </p:cNvPr>
          <p:cNvSpPr/>
          <p:nvPr/>
        </p:nvSpPr>
        <p:spPr>
          <a:xfrm>
            <a:off x="6291072" y="2596896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>
            <a:hlinkClick r:id="rId14" tooltip="" action="ppaction://hlinksldjump"/>
          </p:cNvPr>
          <p:cNvSpPr/>
          <p:nvPr/>
        </p:nvSpPr>
        <p:spPr>
          <a:xfrm>
            <a:off x="6492240" y="2724912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14707C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2200" dirty="0"/>
          </a:p>
        </p:txBody>
      </p:sp>
      <p:sp>
        <p:nvSpPr>
          <p:cNvPr id="18" name="Text 16">
            <a:hlinkClick r:id="rId15" tooltip="" action="ppaction://hlinksldjump"/>
          </p:cNvPr>
          <p:cNvSpPr/>
          <p:nvPr/>
        </p:nvSpPr>
        <p:spPr>
          <a:xfrm>
            <a:off x="7159752" y="271576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honest map</a:t>
            </a:r>
            <a:endParaRPr lang="en-US" sz="1350" dirty="0"/>
          </a:p>
        </p:txBody>
      </p:sp>
      <p:sp>
        <p:nvSpPr>
          <p:cNvPr id="19" name="Text 17">
            <a:hlinkClick r:id="rId16" tooltip="" action="ppaction://hlinksldjump"/>
          </p:cNvPr>
          <p:cNvSpPr/>
          <p:nvPr/>
        </p:nvSpPr>
        <p:spPr>
          <a:xfrm>
            <a:off x="7159752" y="304495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Where the fish likely are - and where you must not go</a:t>
            </a:r>
            <a:endParaRPr lang="en-US" sz="1050" dirty="0"/>
          </a:p>
        </p:txBody>
      </p:sp>
      <p:sp>
        <p:nvSpPr>
          <p:cNvPr id="20" name="Shape 18">
            <a:hlinkClick r:id="rId17" tooltip="" action="ppaction://hlinksldjump"/>
          </p:cNvPr>
          <p:cNvSpPr/>
          <p:nvPr/>
        </p:nvSpPr>
        <p:spPr>
          <a:xfrm>
            <a:off x="457200" y="3621024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>
            <a:hlinkClick r:id="rId18" tooltip="" action="ppaction://hlinksldjump"/>
          </p:cNvPr>
          <p:cNvSpPr/>
          <p:nvPr/>
        </p:nvSpPr>
        <p:spPr>
          <a:xfrm>
            <a:off x="658368" y="3749040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14707C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1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2200" dirty="0"/>
          </a:p>
        </p:txBody>
      </p:sp>
      <p:sp>
        <p:nvSpPr>
          <p:cNvPr id="22" name="Text 20">
            <a:hlinkClick r:id="rId19" tooltip="" action="ppaction://hlinksldjump"/>
          </p:cNvPr>
          <p:cNvSpPr/>
          <p:nvPr/>
        </p:nvSpPr>
        <p:spPr>
          <a:xfrm>
            <a:off x="1325880" y="373989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Ask the AI</a:t>
            </a:r>
            <a:endParaRPr lang="en-US" sz="1350" dirty="0"/>
          </a:p>
        </p:txBody>
      </p:sp>
      <p:sp>
        <p:nvSpPr>
          <p:cNvPr id="23" name="Text 21">
            <a:hlinkClick r:id="rId20" tooltip="" action="ppaction://hlinksldjump"/>
          </p:cNvPr>
          <p:cNvSpPr/>
          <p:nvPr/>
        </p:nvSpPr>
        <p:spPr>
          <a:xfrm>
            <a:off x="1325880" y="406908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local AI helper that cites its sources</a:t>
            </a:r>
            <a:endParaRPr lang="en-US" sz="1050" dirty="0"/>
          </a:p>
        </p:txBody>
      </p:sp>
      <p:sp>
        <p:nvSpPr>
          <p:cNvPr id="24" name="Shape 22">
            <a:hlinkClick r:id="rId21" tooltip="" action="ppaction://hlinksldjump"/>
          </p:cNvPr>
          <p:cNvSpPr/>
          <p:nvPr/>
        </p:nvSpPr>
        <p:spPr>
          <a:xfrm>
            <a:off x="6291072" y="3621024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>
            <a:hlinkClick r:id="rId22" tooltip="" action="ppaction://hlinksldjump"/>
          </p:cNvPr>
          <p:cNvSpPr/>
          <p:nvPr/>
        </p:nvSpPr>
        <p:spPr>
          <a:xfrm>
            <a:off x="6492240" y="3749040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14707C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2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2200" dirty="0"/>
          </a:p>
        </p:txBody>
      </p:sp>
      <p:sp>
        <p:nvSpPr>
          <p:cNvPr id="26" name="Text 24">
            <a:hlinkClick r:id="rId23" tooltip="" action="ppaction://hlinksldjump"/>
          </p:cNvPr>
          <p:cNvSpPr/>
          <p:nvPr/>
        </p:nvSpPr>
        <p:spPr>
          <a:xfrm>
            <a:off x="7159752" y="373989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evidence</a:t>
            </a:r>
            <a:endParaRPr lang="en-US" sz="1350" dirty="0"/>
          </a:p>
        </p:txBody>
      </p:sp>
      <p:sp>
        <p:nvSpPr>
          <p:cNvPr id="27" name="Text 25">
            <a:hlinkClick r:id="rId24" tooltip="" action="ppaction://hlinksldjump"/>
          </p:cNvPr>
          <p:cNvSpPr/>
          <p:nvPr/>
        </p:nvSpPr>
        <p:spPr>
          <a:xfrm>
            <a:off x="7159752" y="406908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we tested - and what it proved</a:t>
            </a:r>
            <a:endParaRPr lang="en-US" sz="1050" dirty="0"/>
          </a:p>
        </p:txBody>
      </p:sp>
      <p:sp>
        <p:nvSpPr>
          <p:cNvPr id="28" name="Shape 26">
            <a:hlinkClick r:id="rId25" tooltip="" action="ppaction://hlinksldjump"/>
          </p:cNvPr>
          <p:cNvSpPr/>
          <p:nvPr/>
        </p:nvSpPr>
        <p:spPr>
          <a:xfrm>
            <a:off x="457200" y="4645152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9" name="Text 27">
            <a:hlinkClick r:id="rId26" tooltip="" action="ppaction://hlinksldjump"/>
          </p:cNvPr>
          <p:cNvSpPr/>
          <p:nvPr/>
        </p:nvSpPr>
        <p:spPr>
          <a:xfrm>
            <a:off x="658368" y="4773168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14707C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2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2200" dirty="0"/>
          </a:p>
        </p:txBody>
      </p:sp>
      <p:sp>
        <p:nvSpPr>
          <p:cNvPr id="30" name="Text 28">
            <a:hlinkClick r:id="rId27" tooltip="" action="ppaction://hlinksldjump"/>
          </p:cNvPr>
          <p:cNvSpPr/>
          <p:nvPr/>
        </p:nvSpPr>
        <p:spPr>
          <a:xfrm>
            <a:off x="1325880" y="476402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Who wins</a:t>
            </a:r>
            <a:endParaRPr lang="en-US" sz="1350" dirty="0"/>
          </a:p>
        </p:txBody>
      </p:sp>
      <p:sp>
        <p:nvSpPr>
          <p:cNvPr id="31" name="Text 29">
            <a:hlinkClick r:id="rId28" tooltip="" action="ppaction://hlinksldjump"/>
          </p:cNvPr>
          <p:cNvSpPr/>
          <p:nvPr/>
        </p:nvSpPr>
        <p:spPr>
          <a:xfrm>
            <a:off x="1325880" y="509320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Fishers, the ocean, communities, authorities</a:t>
            </a:r>
            <a:endParaRPr lang="en-US" sz="1050" dirty="0"/>
          </a:p>
        </p:txBody>
      </p:sp>
      <p:sp>
        <p:nvSpPr>
          <p:cNvPr id="32" name="Shape 30">
            <a:hlinkClick r:id="rId29" tooltip="" action="ppaction://hlinksldjump"/>
          </p:cNvPr>
          <p:cNvSpPr/>
          <p:nvPr/>
        </p:nvSpPr>
        <p:spPr>
          <a:xfrm>
            <a:off x="6291072" y="4645152"/>
            <a:ext cx="5440680" cy="896112"/>
          </a:xfrm>
          <a:prstGeom prst="roundRect">
            <a:avLst>
              <a:gd name="adj" fmla="val 7143"/>
            </a:avLst>
          </a:prstGeom>
          <a:solidFill>
            <a:srgbClr val="E3EF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3" name="Text 31">
            <a:hlinkClick r:id="rId30" tooltip="" action="ppaction://hlinksldjump"/>
          </p:cNvPr>
          <p:cNvSpPr/>
          <p:nvPr/>
        </p:nvSpPr>
        <p:spPr>
          <a:xfrm>
            <a:off x="6492240" y="4773168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14707C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3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2200" dirty="0"/>
          </a:p>
        </p:txBody>
      </p:sp>
      <p:sp>
        <p:nvSpPr>
          <p:cNvPr id="34" name="Text 32">
            <a:hlinkClick r:id="rId31" tooltip="" action="ppaction://hlinksldjump"/>
          </p:cNvPr>
          <p:cNvSpPr/>
          <p:nvPr/>
        </p:nvSpPr>
        <p:spPr>
          <a:xfrm>
            <a:off x="7159752" y="476402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Conclusion</a:t>
            </a:r>
            <a:endParaRPr lang="en-US" sz="1350" dirty="0"/>
          </a:p>
        </p:txBody>
      </p:sp>
      <p:sp>
        <p:nvSpPr>
          <p:cNvPr id="35" name="Text 33">
            <a:hlinkClick r:id="rId32" tooltip="" action="ppaction://hlinksldjump"/>
          </p:cNvPr>
          <p:cNvSpPr/>
          <p:nvPr/>
        </p:nvSpPr>
        <p:spPr>
          <a:xfrm>
            <a:off x="7159752" y="509320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One simple idea, and what comes next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577900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82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Tap any card to jump straight to that part of the story.</a:t>
            </a:r>
            <a:endParaRPr lang="en-US" sz="115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fishing needs help</a:t>
            </a:r>
            <a:endParaRPr lang="en-US" sz="2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10040112" y="3840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spc="1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CONTENTS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48132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3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39572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fish populations are now overfished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0540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FAO, 2023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97680" y="148132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 more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297680" y="239572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plastic flowing into the ocean by 2040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0" y="30540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UNEP, 2023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138160" y="148132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 million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138160" y="239572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depend on small-scale fishing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0" y="30540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FAO, 2023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639312"/>
            <a:ext cx="118872" cy="118872"/>
          </a:xfrm>
          <a:prstGeom prst="diamond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52044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Fish are moving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3950208"/>
            <a:ext cx="2697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Warming seas push fish to new waters, and the old seasonal calendars drift out of step.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28416" y="3639312"/>
            <a:ext cx="118872" cy="118872"/>
          </a:xfrm>
          <a:prstGeom prst="diamond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84448" y="352044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Spawning is disturbed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328416" y="3950208"/>
            <a:ext cx="2697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Fishing while fish breed leaves fewer fish for everyone next year.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99632" y="3639312"/>
            <a:ext cx="118872" cy="118872"/>
          </a:xfrm>
          <a:prstGeom prst="diamond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55664" y="352044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sea is dangerous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199632" y="3950208"/>
            <a:ext cx="2697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District-wide forecasts say nothing about the wind and waves off your own ground.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070848" y="3639312"/>
            <a:ext cx="118872" cy="118872"/>
          </a:xfrm>
          <a:prstGeom prst="diamond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0" y="352044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 are hard to check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070848" y="3950208"/>
            <a:ext cx="2697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Boundaries and closed seasons live in offices and on paper - not at sea.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55664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FAO State of World Fisheries 2023; UNEP Turning off the Tap 2023; Cheung et al. 2010.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0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ParaSail - one clear answer</a:t>
            </a:r>
            <a:endParaRPr lang="en-US" sz="2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10040112" y="3840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spc="1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CONTENTS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70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 a weather app - but for fishing.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tell it where you will fish, what you are catching and when. Before you leave the harbour it gives you one simple answer - and the reasons behind it.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4343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 ·  in your language  ·  installs like a phone 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57800" y="1463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to reveal each signal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303520" y="1837944"/>
            <a:ext cx="603504" cy="603504"/>
          </a:xfrm>
          <a:prstGeom prst="ellipse">
            <a:avLst/>
          </a:prstGeom>
          <a:solidFill>
            <a:srgbClr val="4C9A5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72200" y="1783080"/>
            <a:ext cx="5532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4C9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</a:t>
            </a:r>
            <a:endParaRPr lang="en-US" sz="16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Calm seas, fish likely, zone open - safe to sail.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303520" y="2834640"/>
            <a:ext cx="603504" cy="603504"/>
          </a:xfrm>
          <a:prstGeom prst="ellipse">
            <a:avLst/>
          </a:prstGeom>
          <a:solidFill>
            <a:srgbClr val="D9A62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2779776"/>
            <a:ext cx="5532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D9A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 CAREFULLY</a:t>
            </a:r>
            <a:endParaRPr lang="en-US" sz="16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Fishing is possible - but watch the changing weather.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303520" y="3831336"/>
            <a:ext cx="603504" cy="603504"/>
          </a:xfrm>
          <a:prstGeom prst="ellipse">
            <a:avLst/>
          </a:prstGeom>
          <a:solidFill>
            <a:srgbClr val="D97E3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3776472"/>
            <a:ext cx="5532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D97E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 OR MOVE</a:t>
            </a:r>
            <a:endParaRPr lang="en-US" sz="16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Rough seas or young fish nearby - wait, or try another spot.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5303520" y="4828032"/>
            <a:ext cx="603504" cy="603504"/>
          </a:xfrm>
          <a:prstGeom prst="ellipse">
            <a:avLst/>
          </a:prstGeom>
          <a:solidFill>
            <a:srgbClr val="C94F4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4773168"/>
            <a:ext cx="5532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C94F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</a:t>
            </a:r>
            <a:endParaRPr lang="en-US" sz="16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safe, or not allowed. Stay ashore today.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03520" y="5806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area or closed season? </a:t>
            </a:r>
            <a:pPr indent="0" marL="0">
              <a:buNone/>
            </a:pPr>
            <a:r>
              <a:rPr lang="en-US" sz="1300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answer is always STOP - whatever the weather.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 · THE ANSWER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actually see</a:t>
            </a:r>
            <a:endParaRPr lang="en-US" sz="2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10040112" y="3840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spc="1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CONTENTS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623560" cy="4069080"/>
          </a:xfrm>
          <a:prstGeom prst="roundRect">
            <a:avLst>
              <a:gd name="adj" fmla="val 1573"/>
            </a:avLst>
          </a:prstGeom>
          <a:solidFill>
            <a:srgbClr val="FFFFFF"/>
          </a:solidFill>
          <a:ln w="15875">
            <a:solidFill>
              <a:srgbClr val="D8E2E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TOMORROW, 5 AM — OFF KOCHI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17627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C9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77240" y="31272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PLAIN-LANGUAGE EXPLANATION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04672" y="3575304"/>
            <a:ext cx="118872" cy="118872"/>
          </a:xfrm>
          <a:prstGeom prst="diamond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47472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 — calm seas.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" y="4105656"/>
            <a:ext cx="118872" cy="118872"/>
          </a:xfrm>
          <a:prstGeom prst="diamond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400507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 right now: wind 12 km/h, waves 0.8 m, currents 1.2 km/h.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" y="4636008"/>
            <a:ext cx="118872" cy="118872"/>
          </a:xfrm>
          <a:prstGeom prst="diamond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535424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Indian oil sardine likely in this area.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" y="5166360"/>
            <a:ext cx="118872" cy="118872"/>
          </a:xfrm>
          <a:prstGeom prst="diamond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5065776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to young fish and habitats: low.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55046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82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point is a separate reason you can check - not a wall of text.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46520" y="1645920"/>
            <a:ext cx="5285232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8E2E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20840" y="18105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 IT THINKS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66560" y="2368296"/>
            <a:ext cx="91440" cy="237744"/>
          </a:xfrm>
          <a:prstGeom prst="roundRect">
            <a:avLst>
              <a:gd name="adj" fmla="val 20000"/>
            </a:avLst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22008" y="2203704"/>
            <a:ext cx="91440" cy="402336"/>
          </a:xfrm>
          <a:prstGeom prst="roundRect">
            <a:avLst>
              <a:gd name="adj" fmla="val 20000"/>
            </a:avLst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77456" y="2295144"/>
            <a:ext cx="91440" cy="310896"/>
          </a:xfrm>
          <a:prstGeom prst="roundRect">
            <a:avLst>
              <a:gd name="adj" fmla="val 20000"/>
            </a:avLst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32904" y="2148840"/>
            <a:ext cx="91440" cy="457200"/>
          </a:xfrm>
          <a:prstGeom prst="roundRect">
            <a:avLst>
              <a:gd name="adj" fmla="val 20000"/>
            </a:avLst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5240" y="22128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the sea…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720840" y="27249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live progress cue - animated wave bars - so you always know it is working.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46520" y="3520440"/>
            <a:ext cx="52852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is invented. </a:t>
            </a:r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data cannot support a claim, the system says so instead of guessing - and the full detail stays one tap away.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46520" y="4892040"/>
            <a:ext cx="5285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 on purpose. </a:t>
            </a:r>
            <a:pPr indent="0" marL="0">
              <a:buNone/>
            </a:pPr>
            <a:r>
              <a:rPr lang="en-US" sz="12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fishers' eye view first; the numbers live behind it for anyone who wants them.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 · THE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map shows where - honestly</a:t>
            </a:r>
            <a:endParaRPr lang="en-US" sz="2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10040112" y="3840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spc="1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CONTENTS</a:t>
            </a:r>
            <a:endParaRPr lang="en-US" sz="1000" dirty="0"/>
          </a:p>
        </p:txBody>
      </p:sp>
      <p:pic>
        <p:nvPicPr>
          <p:cNvPr id="5" name="Image 0" descr="deck_figures/fig7_zon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5989320" cy="37433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462397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view of the coast, the likely-fish zone and a protected area.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766560" y="1828800"/>
            <a:ext cx="548640" cy="548640"/>
          </a:xfrm>
          <a:prstGeom prst="ellipse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635240" y="17830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Follows the real coastline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likely-fish area is drawn from actual shoreline geometry - it never spills over land or into backwaters.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766560" y="3044952"/>
            <a:ext cx="548640" cy="548640"/>
          </a:xfrm>
          <a:prstGeom prst="ellipse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3044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635240" y="2999232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areas, for real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marine-park boundaries. Inside one the answer is STOP - and it names the park you are in.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766560" y="4261104"/>
            <a:ext cx="548640" cy="548640"/>
          </a:xfrm>
          <a:prstGeom prst="ellipse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0" y="4261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635240" y="4215384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when nothing fits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conditions do not suit the fish, it shows a small honest zone - or none - instead of inventing one.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766560" y="5349240"/>
            <a:ext cx="4965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fishing zone that covers a town, or a 'protected area' you cannot see, protects nothing. The map is built so a fisher can trust it.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455664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Zone geometry: GSHHG shoreline data (public domain) · Park outlines: OpenStreetMap contributors (ODbL).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 · THE AI HELPER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it anything - in your own words</a:t>
            </a:r>
            <a:endParaRPr lang="en-US" sz="2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10040112" y="3840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spc="1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CONTENTS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5806440" cy="3127248"/>
          </a:xfrm>
          <a:prstGeom prst="roundRect">
            <a:avLst>
              <a:gd name="adj" fmla="val 2047"/>
            </a:avLst>
          </a:prstGeom>
          <a:solidFill>
            <a:srgbClr val="FFFFFF"/>
          </a:solidFill>
          <a:ln w="15875">
            <a:solidFill>
              <a:srgbClr val="D8E2E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PARASAIL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77440" y="2121408"/>
            <a:ext cx="3291840" cy="566928"/>
          </a:xfrm>
          <a:prstGeom prst="roundRect">
            <a:avLst>
              <a:gd name="adj" fmla="val 19355"/>
            </a:avLst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212140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“Can I take my small boat out tomorrow?”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798064"/>
            <a:ext cx="4754880" cy="1051560"/>
          </a:xfrm>
          <a:prstGeom prst="roundRect">
            <a:avLst>
              <a:gd name="adj" fmla="val 10435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98064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 CAREFULLY - waves near 1 m in the morning, wind rising after noon. Best back before two.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marine forecast · rulebook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377440" y="3968496"/>
            <a:ext cx="3291840" cy="548640"/>
          </a:xfrm>
          <a:prstGeom prst="roundRect">
            <a:avLst>
              <a:gd name="adj" fmla="val 20000"/>
            </a:avLst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396849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“And in June, for sardine?”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82512" y="4956048"/>
            <a:ext cx="534924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5875">
            <a:solidFill>
              <a:srgbClr val="D8E2E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56832" y="5349240"/>
            <a:ext cx="182880" cy="182880"/>
          </a:xfrm>
          <a:prstGeom prst="ellipse">
            <a:avLst/>
          </a:prstGeom>
          <a:solidFill>
            <a:srgbClr val="4C9A57"/>
          </a:solidFill>
          <a:ln w="12700">
            <a:solidFill>
              <a:srgbClr val="4C9A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52303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AI: qwen2.5vl-3b-laptop  ·  READY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56832" y="5614416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checks what is actually installed on this computer and says so - and if a model is missing, it prints the exact command to get it.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82512" y="1737360"/>
            <a:ext cx="548640" cy="548640"/>
          </a:xfrm>
          <a:prstGeom prst="ellipse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51192" y="1691640"/>
            <a:ext cx="5349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in plain words</a:t>
            </a:r>
            <a:endParaRPr lang="en-US" sz="14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like you would ask a neighbour - and it replies in your own language.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382512" y="2807208"/>
            <a:ext cx="548640" cy="548640"/>
          </a:xfrm>
          <a:prstGeom prst="ellipse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807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51192" y="2761488"/>
            <a:ext cx="5349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its sources</a:t>
            </a:r>
            <a:endParaRPr lang="en-US" sz="14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answer points to the forecast, rule or local knowledge it used.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382512" y="3877056"/>
            <a:ext cx="548640" cy="548640"/>
          </a:xfrm>
          <a:prstGeom prst="ellipse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3877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251192" y="3831336"/>
            <a:ext cx="5349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0E4A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about the hardware</a:t>
            </a:r>
            <a:endParaRPr lang="en-US" sz="14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never pretends a model is running when it is not.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57200" y="6236208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explains the advice - it never overrules it. Closed season? Still STOP.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0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worked - here is what we found</a:t>
            </a:r>
            <a:endParaRPr lang="en-US" sz="2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10040112" y="3840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spc="1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CONTENTS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9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6642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data kept flowing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26280" y="166420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 when the internet dropped, advice continued - clearly marked as slightly older information.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9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2423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 seasons were always respected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242316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single test during a closure came back STOP. No exceptions, ever.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18211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9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31821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Advice changed sensibly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318211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the weather turned or the fish moved, the traffic light changed exactly as it should.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94106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9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394106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answer explained itself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26280" y="3941064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reasons shown next to each advice were checked - and they were the right ones.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70001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9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70001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map stayed over water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26280" y="4700016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Likely-fish zones followed the coast and never covered land, lakes or backwaters.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4589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9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97280" y="54589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never overruled the verdict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26280" y="545896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explains, cites and defers - the decision stays with the rules, not the model.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Everyone on the coast wins</a:t>
            </a:r>
            <a:endParaRPr lang="en-US" sz="2800" dirty="0"/>
          </a:p>
        </p:txBody>
      </p:sp>
      <p:sp>
        <p:nvSpPr>
          <p:cNvPr id="4" name="Text 2">
            <a:hlinkClick r:id="rId1" tooltip="" action="ppaction://hlinksldjump"/>
          </p:cNvPr>
          <p:cNvSpPr/>
          <p:nvPr/>
        </p:nvSpPr>
        <p:spPr>
          <a:xfrm>
            <a:off x="10040112" y="3840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spc="100" kern="0" dirty="0">
                <a:solidFill>
                  <a:srgbClr val="14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CONTENTS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810512"/>
            <a:ext cx="118872" cy="118872"/>
          </a:xfrm>
          <a:prstGeom prst="diamond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9164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Fishers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2697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fuel, stay safer, and avoid fines from honest mistakes.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28416" y="1810512"/>
            <a:ext cx="118872" cy="118872"/>
          </a:xfrm>
          <a:prstGeom prst="diamond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4448" y="169164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ocean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3328416" y="2148840"/>
            <a:ext cx="2697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zones and spawning seasons are left in peace - automatically.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9632" y="1810512"/>
            <a:ext cx="118872" cy="118872"/>
          </a:xfrm>
          <a:prstGeom prst="diamond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5664" y="169164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Communities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199632" y="2148840"/>
            <a:ext cx="2697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Generations of fishing knowledge kept in a lasting digital library.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70848" y="1810512"/>
            <a:ext cx="118872" cy="118872"/>
          </a:xfrm>
          <a:prstGeom prst="diamond">
            <a:avLst/>
          </a:prstGeom>
          <a:solidFill>
            <a:srgbClr val="14707C"/>
          </a:solidFill>
          <a:ln w="12700">
            <a:solidFill>
              <a:srgbClr val="1470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0" y="169164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Authorities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070848" y="2148840"/>
            <a:ext cx="2697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Clear, fair decisions backed by evidence anyone can see.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3977640"/>
            <a:ext cx="12188952" cy="1371600"/>
          </a:xfrm>
          <a:prstGeom prst="rect">
            <a:avLst/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1605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4A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Made for your coast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5720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to set up for a new coast  ·  runs on an ordinary computer  ·  installs like a phone app on the boat  ·  answers in your language, local fish names included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571500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Next: a season-long trial with fishing communities, and voice guidance for hands-free use at sea.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2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SIMPLE IDEA</a:t>
            </a:r>
            <a:endParaRPr lang="en-US" sz="1100" dirty="0"/>
          </a:p>
        </p:txBody>
      </p:sp>
      <p:sp>
        <p:nvSpPr>
          <p:cNvPr id="3" name="Text 1">
            <a:hlinkClick r:id="rId1" tooltip="" action="ppaction://hlinksldjump"/>
          </p:cNvPr>
          <p:cNvSpPr/>
          <p:nvPr/>
        </p:nvSpPr>
        <p:spPr>
          <a:xfrm>
            <a:off x="10040112" y="3840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u="sng" spc="100" kern="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CONTENTS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274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Fish smarter. Stay safe.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2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the ocean giving.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ParaSail answers three questions every fisher already asks - is it safe, are the fish there, is it allowed - and shows its reasons every single time.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1605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DB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phone app is here today - installed from the website, it works offline and speaks your language. Next: a season-long trial with fishing communities, and voice guidance.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Aligned with the UN Sustainable Development Goals: 14 Life Below Water · 2 Zero Hunger · 8 Decent Work · 9 Innovation · 13 Climate Action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53492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Anantha Krishnan AS  ·  Naipunnya School of Management, Cherthala, India  ·  26th Digital Blue Economy Summit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320272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ParaSail - a smart guide for safer fishing and healthier oceans</dc:title>
  <dc:subject>PptxGenJS Presentation</dc:subject>
  <dc:creator>Anantha Krishnan AS</dc:creator>
  <cp:lastModifiedBy>Anantha Krishnan AS</cp:lastModifiedBy>
  <cp:revision>1</cp:revision>
  <dcterms:created xsi:type="dcterms:W3CDTF">2026-09-22T12:24:55Z</dcterms:created>
  <dcterms:modified xsi:type="dcterms:W3CDTF">2026-09-22T12:24:55Z</dcterms:modified>
</cp:coreProperties>
</file>