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ParaSail fuses live ocean data, species models and conservation rules into one explainable advisory. Interactive deck: the contents slide links to every section; ☰ CONTENTS returns to it from any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contents - each card is a hyperlink to its slide. Use it to jump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existing tool class covers more than one column. ParaSail occupies all four - constraints before scores, and the justification attached to the output. The gap is architectural: nobody has fused these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layers, then the two boxes: what comes in (six open sources) and how it survives outages (contracts, caching, age flags). The telemetry strip matters - the assistant reasons over the full live station set, not just the scoring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Dual-collection retrieval over rules and satellite tiles, hybrid pre-filtering, and citations attached to the output. Scoring is a weighted sum - but constraints run first, so the legality guarantee does not depend on weights. Adding knowledge is an ingestion job, not retraining.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geometry is the point. Zones are clipped by a real ocean mask so they cannot cover land or lagoons; protected areas use real boundaries; and the conservation guard fails closed - if the registry is unreachable, nothing is cleared.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self-hosted VLM serves summaries, grounded Q&amp;A and image reading. Guardrails are code: citations must resolve, the verdict is authoritative, refusal beats invention, the backend is always named. The four recent additions: structured points, honest model availability, telemetry in the grounding payload, and an English-generation + translation pivot.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test families, six gates, and the eight findings on the right. Every capability claim in this deck is tied to a test - including the assistant's grounding (T5) and the service's security posture (T6).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hardware tiers, from a 6 GB laptop to multi-GPU regional deployments, and the economics that justify self-hosting: at 10,000 questions a day, commercial per-token APIs would cost 16-55k a year against a 2,000-dollar GPU plus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normative claim - constraints inside the objective function - then the five mandatory questions in one pass, and invite questions. ☰ CONTENTS jumps back to the 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" Target="slide4.xml"/><Relationship Id="rId8" Type="http://schemas.openxmlformats.org/officeDocument/2006/relationships/slide" Target="slide4.xml"/><Relationship Id="rId9" Type="http://schemas.openxmlformats.org/officeDocument/2006/relationships/slide" Target="slide5.xml"/><Relationship Id="rId10" Type="http://schemas.openxmlformats.org/officeDocument/2006/relationships/slide" Target="slide5.xml"/><Relationship Id="rId11" Type="http://schemas.openxmlformats.org/officeDocument/2006/relationships/slide" Target="slide5.xml"/><Relationship Id="rId12" Type="http://schemas.openxmlformats.org/officeDocument/2006/relationships/slide" Target="slide5.xml"/><Relationship Id="rId13" Type="http://schemas.openxmlformats.org/officeDocument/2006/relationships/slide" Target="slide6.xml"/><Relationship Id="rId14" Type="http://schemas.openxmlformats.org/officeDocument/2006/relationships/slide" Target="slide6.xml"/><Relationship Id="rId15" Type="http://schemas.openxmlformats.org/officeDocument/2006/relationships/slide" Target="slide6.xml"/><Relationship Id="rId16" Type="http://schemas.openxmlformats.org/officeDocument/2006/relationships/slide" Target="slide6.xml"/><Relationship Id="rId17" Type="http://schemas.openxmlformats.org/officeDocument/2006/relationships/slide" Target="slide7.xml"/><Relationship Id="rId18" Type="http://schemas.openxmlformats.org/officeDocument/2006/relationships/slide" Target="slide7.xml"/><Relationship Id="rId19" Type="http://schemas.openxmlformats.org/officeDocument/2006/relationships/slide" Target="slide7.xml"/><Relationship Id="rId20" Type="http://schemas.openxmlformats.org/officeDocument/2006/relationships/slide" Target="slide7.xml"/><Relationship Id="rId21" Type="http://schemas.openxmlformats.org/officeDocument/2006/relationships/slide" Target="slide8.xml"/><Relationship Id="rId22" Type="http://schemas.openxmlformats.org/officeDocument/2006/relationships/slide" Target="slide8.xml"/><Relationship Id="rId23" Type="http://schemas.openxmlformats.org/officeDocument/2006/relationships/slide" Target="slide8.xml"/><Relationship Id="rId24" Type="http://schemas.openxmlformats.org/officeDocument/2006/relationships/slide" Target="slide8.xml"/><Relationship Id="rId25" Type="http://schemas.openxmlformats.org/officeDocument/2006/relationships/slide" Target="slide9.xml"/><Relationship Id="rId26" Type="http://schemas.openxmlformats.org/officeDocument/2006/relationships/slide" Target="slide9.xml"/><Relationship Id="rId27" Type="http://schemas.openxmlformats.org/officeDocument/2006/relationships/slide" Target="slide9.xml"/><Relationship Id="rId28" Type="http://schemas.openxmlformats.org/officeDocument/2006/relationships/slide" Target="slide9.xml"/><Relationship Id="rId29" Type="http://schemas.openxmlformats.org/officeDocument/2006/relationships/slide" Target="slide10.xml"/><Relationship Id="rId30" Type="http://schemas.openxmlformats.org/officeDocument/2006/relationships/slide" Target="slide10.xml"/><Relationship Id="rId31" Type="http://schemas.openxmlformats.org/officeDocument/2006/relationships/slide" Target="slide10.xml"/><Relationship Id="rId32" Type="http://schemas.openxmlformats.org/officeDocument/2006/relationships/slide" Target="slide10.xml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26TH DIGITAL BLUE ECONOMY SUMMIT  ·  EXPERIMENTAL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572768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ParaSail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822960" y="29992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Advisory and Retrieval-Augmented System Advancing Informed Livelihoods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52958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geospatial decision support system for sustainable fishing, marine conservation and coastal livelihood resilience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2542032" cy="512064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1772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conservation constraints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02152" y="4617720"/>
            <a:ext cx="2542032" cy="512064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461772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by retrieval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4617720"/>
            <a:ext cx="2542032" cy="512064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461772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Adaptable by LoRA fine-tuning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0536" y="4617720"/>
            <a:ext cx="2542032" cy="512064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0536" y="461772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AI assistant (local)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Anantha Krishnan AS  ·  Naipunnya School of Management, Cherthala, India  ·  September 2026</a:t>
            </a:r>
            <a:endParaRPr lang="en-US" sz="12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deck covers</a:t>
            </a:r>
            <a:endParaRPr lang="en-US" sz="2800" dirty="0"/>
          </a:p>
        </p:txBody>
      </p:sp>
      <p:sp>
        <p:nvSpPr>
          <p:cNvPr id="4" name="Shape 2">
            <a:hlinkClick r:id="rId1" tooltip="" action="ppaction://hlinksldjump"/>
          </p:cNvPr>
          <p:cNvSpPr/>
          <p:nvPr/>
        </p:nvSpPr>
        <p:spPr>
          <a:xfrm>
            <a:off x="457200" y="1572768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658368" y="1700784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2200" dirty="0"/>
          </a:p>
        </p:txBody>
      </p:sp>
      <p:sp>
        <p:nvSpPr>
          <p:cNvPr id="6" name="Text 4">
            <a:hlinkClick r:id="rId3" tooltip="" action="ppaction://hlinksldjump"/>
          </p:cNvPr>
          <p:cNvSpPr/>
          <p:nvPr/>
        </p:nvSpPr>
        <p:spPr>
          <a:xfrm>
            <a:off x="1325880" y="16916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Problem, gap, objectives</a:t>
            </a:r>
            <a:endParaRPr lang="en-US" sz="1350" dirty="0"/>
          </a:p>
        </p:txBody>
      </p:sp>
      <p:sp>
        <p:nvSpPr>
          <p:cNvPr id="7" name="Text 5">
            <a:hlinkClick r:id="rId4" tooltip="" action="ppaction://hlinksldjump"/>
          </p:cNvPr>
          <p:cNvSpPr/>
          <p:nvPr/>
        </p:nvSpPr>
        <p:spPr>
          <a:xfrm>
            <a:off x="1325880" y="20208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information gap is architectural, not algorithmic</a:t>
            </a:r>
            <a:endParaRPr lang="en-US" sz="1050" dirty="0"/>
          </a:p>
        </p:txBody>
      </p:sp>
      <p:sp>
        <p:nvSpPr>
          <p:cNvPr id="8" name="Shape 6">
            <a:hlinkClick r:id="rId5" tooltip="" action="ppaction://hlinksldjump"/>
          </p:cNvPr>
          <p:cNvSpPr/>
          <p:nvPr/>
        </p:nvSpPr>
        <p:spPr>
          <a:xfrm>
            <a:off x="6291072" y="1572768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>
            <a:hlinkClick r:id="rId6" tooltip="" action="ppaction://hlinksldjump"/>
          </p:cNvPr>
          <p:cNvSpPr/>
          <p:nvPr/>
        </p:nvSpPr>
        <p:spPr>
          <a:xfrm>
            <a:off x="6492240" y="1700784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2200" dirty="0"/>
          </a:p>
        </p:txBody>
      </p:sp>
      <p:sp>
        <p:nvSpPr>
          <p:cNvPr id="10" name="Text 8">
            <a:hlinkClick r:id="rId7" tooltip="" action="ppaction://hlinksldjump"/>
          </p:cNvPr>
          <p:cNvSpPr/>
          <p:nvPr/>
        </p:nvSpPr>
        <p:spPr>
          <a:xfrm>
            <a:off x="7159752" y="16916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Architecture and data</a:t>
            </a:r>
            <a:endParaRPr lang="en-US" sz="1350" dirty="0"/>
          </a:p>
        </p:txBody>
      </p:sp>
      <p:sp>
        <p:nvSpPr>
          <p:cNvPr id="11" name="Text 9">
            <a:hlinkClick r:id="rId8" tooltip="" action="ppaction://hlinksldjump"/>
          </p:cNvPr>
          <p:cNvSpPr/>
          <p:nvPr/>
        </p:nvSpPr>
        <p:spPr>
          <a:xfrm>
            <a:off x="7159752" y="20208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Six layers, open inputs, telemetry, resilient ingestion</a:t>
            </a:r>
            <a:endParaRPr lang="en-US" sz="1050" dirty="0"/>
          </a:p>
        </p:txBody>
      </p:sp>
      <p:sp>
        <p:nvSpPr>
          <p:cNvPr id="12" name="Shape 10">
            <a:hlinkClick r:id="rId9" tooltip="" action="ppaction://hlinksldjump"/>
          </p:cNvPr>
          <p:cNvSpPr/>
          <p:nvPr/>
        </p:nvSpPr>
        <p:spPr>
          <a:xfrm>
            <a:off x="457200" y="2596896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>
            <a:hlinkClick r:id="rId10" tooltip="" action="ppaction://hlinksldjump"/>
          </p:cNvPr>
          <p:cNvSpPr/>
          <p:nvPr/>
        </p:nvSpPr>
        <p:spPr>
          <a:xfrm>
            <a:off x="658368" y="272491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2200" dirty="0"/>
          </a:p>
        </p:txBody>
      </p:sp>
      <p:sp>
        <p:nvSpPr>
          <p:cNvPr id="14" name="Text 12">
            <a:hlinkClick r:id="rId11" tooltip="" action="ppaction://hlinksldjump"/>
          </p:cNvPr>
          <p:cNvSpPr/>
          <p:nvPr/>
        </p:nvSpPr>
        <p:spPr>
          <a:xfrm>
            <a:off x="1325880" y="2715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advisory engine</a:t>
            </a:r>
            <a:endParaRPr lang="en-US" sz="1350" dirty="0"/>
          </a:p>
        </p:txBody>
      </p:sp>
      <p:sp>
        <p:nvSpPr>
          <p:cNvPr id="15" name="Text 13">
            <a:hlinkClick r:id="rId12" tooltip="" action="ppaction://hlinksldjump"/>
          </p:cNvPr>
          <p:cNvSpPr/>
          <p:nvPr/>
        </p:nvSpPr>
        <p:spPr>
          <a:xfrm>
            <a:off x="1325880" y="304495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Dual-collection retrieval, scoring under hard constraints</a:t>
            </a:r>
            <a:endParaRPr lang="en-US" sz="1050" dirty="0"/>
          </a:p>
        </p:txBody>
      </p:sp>
      <p:sp>
        <p:nvSpPr>
          <p:cNvPr id="16" name="Shape 14">
            <a:hlinkClick r:id="rId13" tooltip="" action="ppaction://hlinksldjump"/>
          </p:cNvPr>
          <p:cNvSpPr/>
          <p:nvPr/>
        </p:nvSpPr>
        <p:spPr>
          <a:xfrm>
            <a:off x="6291072" y="2596896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>
            <a:hlinkClick r:id="rId14" tooltip="" action="ppaction://hlinksldjump"/>
          </p:cNvPr>
          <p:cNvSpPr/>
          <p:nvPr/>
        </p:nvSpPr>
        <p:spPr>
          <a:xfrm>
            <a:off x="6492240" y="272491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2200" dirty="0"/>
          </a:p>
        </p:txBody>
      </p:sp>
      <p:sp>
        <p:nvSpPr>
          <p:cNvPr id="18" name="Text 16">
            <a:hlinkClick r:id="rId15" tooltip="" action="ppaction://hlinksldjump"/>
          </p:cNvPr>
          <p:cNvSpPr/>
          <p:nvPr/>
        </p:nvSpPr>
        <p:spPr>
          <a:xfrm>
            <a:off x="7159752" y="2715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Geospatial constraints</a:t>
            </a:r>
            <a:endParaRPr lang="en-US" sz="1350" dirty="0"/>
          </a:p>
        </p:txBody>
      </p:sp>
      <p:sp>
        <p:nvSpPr>
          <p:cNvPr id="19" name="Text 17">
            <a:hlinkClick r:id="rId16" tooltip="" action="ppaction://hlinksldjump"/>
          </p:cNvPr>
          <p:cNvSpPr/>
          <p:nvPr/>
        </p:nvSpPr>
        <p:spPr>
          <a:xfrm>
            <a:off x="7159752" y="304495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Ocean-masked zones and real protected-area boundaries</a:t>
            </a:r>
            <a:endParaRPr lang="en-US" sz="1050" dirty="0"/>
          </a:p>
        </p:txBody>
      </p:sp>
      <p:sp>
        <p:nvSpPr>
          <p:cNvPr id="20" name="Shape 18">
            <a:hlinkClick r:id="rId17" tooltip="" action="ppaction://hlinksldjump"/>
          </p:cNvPr>
          <p:cNvSpPr/>
          <p:nvPr/>
        </p:nvSpPr>
        <p:spPr>
          <a:xfrm>
            <a:off x="457200" y="3621024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>
            <a:hlinkClick r:id="rId18" tooltip="" action="ppaction://hlinksldjump"/>
          </p:cNvPr>
          <p:cNvSpPr/>
          <p:nvPr/>
        </p:nvSpPr>
        <p:spPr>
          <a:xfrm>
            <a:off x="658368" y="374904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2200" dirty="0"/>
          </a:p>
        </p:txBody>
      </p:sp>
      <p:sp>
        <p:nvSpPr>
          <p:cNvPr id="22" name="Text 20">
            <a:hlinkClick r:id="rId19" tooltip="" action="ppaction://hlinksldjump"/>
          </p:cNvPr>
          <p:cNvSpPr/>
          <p:nvPr/>
        </p:nvSpPr>
        <p:spPr>
          <a:xfrm>
            <a:off x="1325880" y="373989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Grounded AI assistant</a:t>
            </a:r>
            <a:endParaRPr lang="en-US" sz="1350" dirty="0"/>
          </a:p>
        </p:txBody>
      </p:sp>
      <p:sp>
        <p:nvSpPr>
          <p:cNvPr id="23" name="Text 21">
            <a:hlinkClick r:id="rId20" tooltip="" action="ppaction://hlinksldjump"/>
          </p:cNvPr>
          <p:cNvSpPr/>
          <p:nvPr/>
        </p:nvSpPr>
        <p:spPr>
          <a:xfrm>
            <a:off x="1325880" y="40690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 VLM, guardrails in code, honest availability</a:t>
            </a:r>
            <a:endParaRPr lang="en-US" sz="1050" dirty="0"/>
          </a:p>
        </p:txBody>
      </p:sp>
      <p:sp>
        <p:nvSpPr>
          <p:cNvPr id="24" name="Shape 22">
            <a:hlinkClick r:id="rId21" tooltip="" action="ppaction://hlinksldjump"/>
          </p:cNvPr>
          <p:cNvSpPr/>
          <p:nvPr/>
        </p:nvSpPr>
        <p:spPr>
          <a:xfrm>
            <a:off x="6291072" y="3621024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>
            <a:hlinkClick r:id="rId22" tooltip="" action="ppaction://hlinksldjump"/>
          </p:cNvPr>
          <p:cNvSpPr/>
          <p:nvPr/>
        </p:nvSpPr>
        <p:spPr>
          <a:xfrm>
            <a:off x="6492240" y="374904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2200" dirty="0"/>
          </a:p>
        </p:txBody>
      </p:sp>
      <p:sp>
        <p:nvSpPr>
          <p:cNvPr id="26" name="Text 24">
            <a:hlinkClick r:id="rId23" tooltip="" action="ppaction://hlinksldjump"/>
          </p:cNvPr>
          <p:cNvSpPr/>
          <p:nvPr/>
        </p:nvSpPr>
        <p:spPr>
          <a:xfrm>
            <a:off x="7159752" y="373989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Validation</a:t>
            </a:r>
            <a:endParaRPr lang="en-US" sz="1350" dirty="0"/>
          </a:p>
        </p:txBody>
      </p:sp>
      <p:sp>
        <p:nvSpPr>
          <p:cNvPr id="27" name="Text 25">
            <a:hlinkClick r:id="rId24" tooltip="" action="ppaction://hlinksldjump"/>
          </p:cNvPr>
          <p:cNvSpPr/>
          <p:nvPr/>
        </p:nvSpPr>
        <p:spPr>
          <a:xfrm>
            <a:off x="7159752" y="40690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Six test families, gates G1-G6, end-to-end evidence</a:t>
            </a:r>
            <a:endParaRPr lang="en-US" sz="1050" dirty="0"/>
          </a:p>
        </p:txBody>
      </p:sp>
      <p:sp>
        <p:nvSpPr>
          <p:cNvPr id="28" name="Shape 26">
            <a:hlinkClick r:id="rId25" tooltip="" action="ppaction://hlinksldjump"/>
          </p:cNvPr>
          <p:cNvSpPr/>
          <p:nvPr/>
        </p:nvSpPr>
        <p:spPr>
          <a:xfrm>
            <a:off x="457200" y="4645152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>
            <a:hlinkClick r:id="rId26" tooltip="" action="ppaction://hlinksldjump"/>
          </p:cNvPr>
          <p:cNvSpPr/>
          <p:nvPr/>
        </p:nvSpPr>
        <p:spPr>
          <a:xfrm>
            <a:off x="658368" y="4773168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2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2200" dirty="0"/>
          </a:p>
        </p:txBody>
      </p:sp>
      <p:sp>
        <p:nvSpPr>
          <p:cNvPr id="30" name="Text 28">
            <a:hlinkClick r:id="rId27" tooltip="" action="ppaction://hlinksldjump"/>
          </p:cNvPr>
          <p:cNvSpPr/>
          <p:nvPr/>
        </p:nvSpPr>
        <p:spPr>
          <a:xfrm>
            <a:off x="1325880" y="47640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Deployment and impact</a:t>
            </a:r>
            <a:endParaRPr lang="en-US" sz="1350" dirty="0"/>
          </a:p>
        </p:txBody>
      </p:sp>
      <p:sp>
        <p:nvSpPr>
          <p:cNvPr id="31" name="Text 29">
            <a:hlinkClick r:id="rId28" tooltip="" action="ppaction://hlinksldjump"/>
          </p:cNvPr>
          <p:cNvSpPr/>
          <p:nvPr/>
        </p:nvSpPr>
        <p:spPr>
          <a:xfrm>
            <a:off x="1325880" y="50932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Hardware tiers, zero marginal cost, who benefits</a:t>
            </a:r>
            <a:endParaRPr lang="en-US" sz="1050" dirty="0"/>
          </a:p>
        </p:txBody>
      </p:sp>
      <p:sp>
        <p:nvSpPr>
          <p:cNvPr id="32" name="Shape 30">
            <a:hlinkClick r:id="rId29" tooltip="" action="ppaction://hlinksldjump"/>
          </p:cNvPr>
          <p:cNvSpPr/>
          <p:nvPr/>
        </p:nvSpPr>
        <p:spPr>
          <a:xfrm>
            <a:off x="6291072" y="4645152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Text 31">
            <a:hlinkClick r:id="rId30" tooltip="" action="ppaction://hlinksldjump"/>
          </p:cNvPr>
          <p:cNvSpPr/>
          <p:nvPr/>
        </p:nvSpPr>
        <p:spPr>
          <a:xfrm>
            <a:off x="6492240" y="4773168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2200" dirty="0"/>
          </a:p>
        </p:txBody>
      </p:sp>
      <p:sp>
        <p:nvSpPr>
          <p:cNvPr id="34" name="Text 32">
            <a:hlinkClick r:id="rId31" tooltip="" action="ppaction://hlinksldjump"/>
          </p:cNvPr>
          <p:cNvSpPr/>
          <p:nvPr/>
        </p:nvSpPr>
        <p:spPr>
          <a:xfrm>
            <a:off x="7159752" y="47640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</a:t>
            </a:r>
            <a:endParaRPr lang="en-US" sz="1350" dirty="0"/>
          </a:p>
        </p:txBody>
      </p:sp>
      <p:sp>
        <p:nvSpPr>
          <p:cNvPr id="35" name="Text 33">
            <a:hlinkClick r:id="rId32" tooltip="" action="ppaction://hlinksldjump"/>
          </p:cNvPr>
          <p:cNvSpPr/>
          <p:nvPr/>
        </p:nvSpPr>
        <p:spPr>
          <a:xfrm>
            <a:off x="7159752" y="50932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five summit questions in one pass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577900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2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 any card to jump to that section; the CONTENTS link on each slide returns here.</a:t>
            </a:r>
            <a:endParaRPr lang="en-US" sz="11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architectural, not algorithmic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35.5%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assessed stocks fished beyond sustainable levels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7980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FAO SOFIA 2023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28416" y="1389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Mt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28416" y="21762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plastic entering the ocean every year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28416" y="27980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UNEP 2023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99632" y="1389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~3×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99632" y="21762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projected growth of plastic flows by 2040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99632" y="27980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UNEP 2023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070848" y="1389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~492 M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70848" y="21762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supported by small-scale fisheries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70848" y="27980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FAO 2023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27248"/>
          <a:ext cx="11274552" cy="914400"/>
        </p:xfrm>
        <a:graphic>
          <a:graphicData uri="http://schemas.openxmlformats.org/drawingml/2006/table">
            <a:tbl>
              <a:tblPr/>
              <a:tblGrid>
                <a:gridCol w="3319272"/>
                <a:gridCol w="1691640"/>
                <a:gridCol w="2011680"/>
                <a:gridCol w="1691640"/>
                <a:gridCol w="25603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 class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Weather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Fish context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Legality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Explainability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Weather applications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PFZ-style advisories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Habitat / SDM studies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Static regulations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ParaSail (this work)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5138928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 RO1-RO9: </a:t>
            </a:r>
            <a:pPr indent="0" marL="0"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fuse live open data · model movement with habitat fallback · enforce MPAs and closures as hard constraints · attach regulations to every advisory · adapt locally via LoRA · expose API + dashboard · validate every layer · align with blue-economy principles · ground a conversational layer.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556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FAO SOFIA 2023; UNEP Turning off the Tap 2023; OECD 2022. PFZ: INCOIS potential fishing zone advisories.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ARCHITECTURE AND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layers, one advisory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pic>
        <p:nvPicPr>
          <p:cNvPr id="5" name="Image 0" descr="deck_figures/fig1_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32427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05803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layer independently replaceable; region, species, closures and weights are YAML configuration, not code.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001000" y="1371600"/>
            <a:ext cx="3730752" cy="2377440"/>
          </a:xfrm>
          <a:prstGeom prst="roundRect">
            <a:avLst>
              <a:gd name="adj" fmla="val 2692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1536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data 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0" y="1874520"/>
            <a:ext cx="3291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Open-Meteo — hourly met + marine forecasts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Copernicus Marine — daily SST and currents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NASA ERDDAP — SST, chlorophyll-a fields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GBIF / OBIS — historical occurrences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FishBase / WoRMS — taxonomy and traits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Sentinel-2 / 3 — multispectral tiles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001000" y="3886200"/>
            <a:ext cx="3730752" cy="1600200"/>
          </a:xfrm>
          <a:prstGeom prst="roundRect">
            <a:avLst>
              <a:gd name="adj" fmla="val 4000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0" y="4041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 by design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4370832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 contracts per source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Caching with explicit age flags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contingency — advisories continue from cached fields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gates, WoRMS normalisation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55321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 telemetry: </a:t>
            </a:r>
            <a:pPr indent="0" marL="0"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parameters in three groups (weather · sea · station health), fetched in independent groups so one unsupported variable degrades only its own group - and the same live set is what the assistant analyses.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sources open-licensed or publicly documented; operating cost negligible at pilot volumes.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RETRIEVAL AND SCORING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advisory carries its own justification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0632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700784"/>
            <a:ext cx="2660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Collections (Qdrant)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Regulations, closure calendars, guidance and local knowledge; OpenCLIP embeddings of satellite tiles with spatial metadata.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77640" y="1572768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78808" y="1700784"/>
            <a:ext cx="3529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top-k retrieval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Bounding-box + temporal pre-filter, then vector search - so context is relevant to this place and this day.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366760" y="1572768"/>
            <a:ext cx="336499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14707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67928" y="1700784"/>
            <a:ext cx="29626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Advisory + cited context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Passages and tiles attached to every recommendation and shown next to the score.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20440" y="2258568"/>
            <a:ext cx="365760" cy="0"/>
          </a:xfrm>
          <a:prstGeom prst="line">
            <a:avLst/>
          </a:prstGeom>
          <a:noFill/>
          <a:ln w="27940">
            <a:solidFill>
              <a:srgbClr val="14707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01000" y="2258568"/>
            <a:ext cx="274320" cy="0"/>
          </a:xfrm>
          <a:prstGeom prst="line">
            <a:avLst/>
          </a:prstGeom>
          <a:noFill/>
          <a:ln w="27940">
            <a:solidFill>
              <a:srgbClr val="14707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154680"/>
            <a:ext cx="45262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875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2735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= 0.45·C + 0.25·W + 0.30·(1 − B)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catch likelihood · W weather safety · B bycatch risk — monotonic in every input, weights owned by governance.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0" y="3200400"/>
            <a:ext cx="2880360" cy="329184"/>
          </a:xfrm>
          <a:prstGeom prst="roundRect">
            <a:avLst>
              <a:gd name="adj" fmla="val 22222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20040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11312" y="32004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 ≥ 0.75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3584448"/>
            <a:ext cx="2880360" cy="329184"/>
          </a:xfrm>
          <a:prstGeom prst="roundRect">
            <a:avLst>
              <a:gd name="adj" fmla="val 22222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358444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PROCEED WITH CAUTION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11312" y="35844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0.60 ≤ S &lt; 0.75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0" y="3968496"/>
            <a:ext cx="2880360" cy="329184"/>
          </a:xfrm>
          <a:prstGeom prst="roundRect">
            <a:avLst>
              <a:gd name="adj" fmla="val 22222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96849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 OR RELOCATE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11312" y="39684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0.40 ≤ S &lt; 0.60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4352544"/>
            <a:ext cx="2880360" cy="329184"/>
          </a:xfrm>
          <a:prstGeom prst="roundRect">
            <a:avLst>
              <a:gd name="adj" fmla="val 22222"/>
            </a:avLst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435254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FISH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11312" y="43525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 &lt; 0.40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rule: </a:t>
            </a:r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constraints run before scoring. Inside an active MPA or seasonal closure the advisory is DO NOT FISH regardless of score - no weight configuration can legalise an illegal trip.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is the retrieval of verifiable sources - not generated prose. New sources plug in as chunked documents; the corpus grows per region and no model is retrained.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Scalable by design: adding a regulation, a guidance note, a satellite pass or a whole regional corpus is an ingestion job - not a re-training project.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GEOSPATIAL CONSTRAINTS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 with real geometry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pic>
        <p:nvPicPr>
          <p:cNvPr id="5" name="Image 0" descr="deck_figures/fig7_zon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669280" cy="3543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2623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schematic: blocky advisory cells clipped to the sea side, and a protected area that forces STOP.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46520" y="1728216"/>
            <a:ext cx="512064" cy="512064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728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269480" y="169164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 mask (GSHHG)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Shoreline data unioned over the India box; a grid cell counts as sea only where the mask and the marine model agree. Lagoons and backwaters fall on the land side, so a zone can never sit over land.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46520" y="3282696"/>
            <a:ext cx="512064" cy="512064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69480" y="324612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protected boundaries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real Indian MPA polygons loaded into PostGIS. The guard is ST_Contains and fail-closed: an unreachable registry blocks the request instead of clearing it.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46520" y="4837176"/>
            <a:ext cx="512064" cy="512064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4837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269480" y="48006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 grid, honest fallback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0.03° cells (about 3.3 km) traced into boundary polygons. The fallback chain is strictly sea-only, and if nothing qualifies there is no zone rather than a guess.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64556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Shoreline: GSHHG (Wessel &amp; Smith, public domain) · Protected areas: OpenStreetMap contributors (ODbL) · Satellite embeddings: OpenCLIP.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CONVERSATIONAL LAYER (P7)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grounded local assistant - it never decides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661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4707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1691640"/>
            <a:ext cx="31638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 (grounding only)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Advisory JSON with live telemetry · top-k retrieved passages · optional image (catch photo, tile, chart) · question + language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24528" y="1554480"/>
            <a:ext cx="3566160" cy="182880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 w="15875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25696" y="1691640"/>
            <a:ext cx="31638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  <a:defRPr sz="1200">
                <a:latin typeface="Calibri"/>
              </a:defRPr>
            </a:pPr>
            <a:r>
              <a:t>Inputs (grounding only)</a:t>
            </a:r>
            <a:br/>
            <a:r>
              <a:t>Advisory JSON with live telemetry · top-k retrieved passages · optional image (catch photo, tile, chart) · question + language</a:t>
            </a:r>
            <a:br/>
            <a:br/>
            <a:r>
              <a:t>Local VLM + runtime registry</a:t>
            </a:r>
            <a:br/>
            <a:r>
              <a:t>Four tiers switch quality to hardware: 3B laptop (Ollama) → 7B AWQ (vLLM) → 7B (Ollama) → 72B AWQ (vLLM). Each tier probed at startup; uninstalled models refused with exact install command.</a:t>
            </a:r>
            <a:br/>
            <a:br/>
            <a:r>
              <a:t>Guardrails (in code)</a:t>
            </a:r>
            <a:br/>
            <a:r>
              <a:t>Citations must resolve to retrieved passages · the advisory class is authoritative · refusal over invention · backend named on every answer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91856" y="1554480"/>
            <a:ext cx="35661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76F5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93024" y="1691640"/>
            <a:ext cx="31638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 (in code)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Citations must resolve to retrieved passages · the advisory class is authoritative · refusal over invention · backend named on every answer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41648" y="2468880"/>
            <a:ext cx="146304" cy="0"/>
          </a:xfrm>
          <a:prstGeom prst="line">
            <a:avLst/>
          </a:prstGeom>
          <a:noFill/>
          <a:ln w="27940">
            <a:solidFill>
              <a:srgbClr val="14707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808976" y="2468880"/>
            <a:ext cx="146304" cy="0"/>
          </a:xfrm>
          <a:prstGeom prst="line">
            <a:avLst/>
          </a:prstGeom>
          <a:noFill/>
          <a:ln w="27940">
            <a:solidFill>
              <a:srgbClr val="14707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3520440"/>
            <a:ext cx="11274552" cy="960120"/>
          </a:xfrm>
          <a:prstGeom prst="roundRect">
            <a:avLst>
              <a:gd name="adj" fmla="val 666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3232" y="3520440"/>
            <a:ext cx="10744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</a:t>
            </a:r>
            <a:pPr indent="0" marL="0"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plain-language explanations (separate checkable points), cited answers, image readings - generated in English and pivoted through translation into ten coastal languages with vernacular fish names. If the GPU is down, a deterministic template assembles the same schema from the same data.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output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50292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Summaries return separate points, not a paragraph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28416" y="46634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availability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28416" y="50292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registry model is probed; an uninstalled one is refused with the exact install command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99632" y="46634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Telemetry-fed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99632" y="50292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live station set is part of the grounding payload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070848" y="46634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Translated, not guessed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70848" y="50292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English generation, then a translation pivot - small models reason better in English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T5 asserts class consistency, citation integrity, cache, fallback and backend naming; T6 asserts rate limits, 401/403 role gates, headers and body caps.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end to end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1773936" cy="512064"/>
          </a:xfrm>
          <a:prstGeom prst="roundRect">
            <a:avLst>
              <a:gd name="adj" fmla="val 1785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3619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fetch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68296" y="1536192"/>
            <a:ext cx="1773936" cy="512064"/>
          </a:xfrm>
          <a:prstGeom prst="roundRect">
            <a:avLst>
              <a:gd name="adj" fmla="val 1785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68296" y="153619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T2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enforcement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79392" y="1536192"/>
            <a:ext cx="1773936" cy="512064"/>
          </a:xfrm>
          <a:prstGeom prst="roundRect">
            <a:avLst>
              <a:gd name="adj" fmla="val 1785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9392" y="153619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T3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behaviour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90488" y="1536192"/>
            <a:ext cx="1773936" cy="512064"/>
          </a:xfrm>
          <a:prstGeom prst="roundRect">
            <a:avLst>
              <a:gd name="adj" fmla="val 1785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153619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T4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relevance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01584" y="1536192"/>
            <a:ext cx="1773936" cy="512064"/>
          </a:xfrm>
          <a:prstGeom prst="roundRect">
            <a:avLst>
              <a:gd name="adj" fmla="val 1785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1584" y="153619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T5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 behaviour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012680" y="1536192"/>
            <a:ext cx="1773936" cy="512064"/>
          </a:xfrm>
          <a:prstGeom prst="roundRect">
            <a:avLst>
              <a:gd name="adj" fmla="val 1785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12680" y="153619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T6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behaviour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240280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236829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fetches reliable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 degradation under outage, with explicit age flags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91072" y="2240280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73952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12864" y="236829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Closure blocks exact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June sardine request returns DO NOT FISH with the reason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209544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3924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78992" y="333756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monotonic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every input; class thresholds land exactly as configured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91072" y="3209544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73952" y="33924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12864" y="333756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relevant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context attached to every advisory on the dashboard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178808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43616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78992" y="430682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Zones never over land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Ocean-masked zones stayed at sea at Kochi, Chennai and Mangaluru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91072" y="4178808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73952" y="43616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12864" y="430682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 guarded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Citations resolve; verdicts hold; template fallback exact; availability honest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5148072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53309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78992" y="527608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hardened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limits 429; 401/403 role gates; security headers on every response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91072" y="5148072"/>
            <a:ext cx="5440680" cy="859536"/>
          </a:xfrm>
          <a:prstGeom prst="roundRect">
            <a:avLst>
              <a:gd name="adj" fmla="val 744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73952" y="53309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912864" y="527608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Pilot-ready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Installable PWA, offline shell, documented hardware tiers and cost model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4556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families map one-to-one onto phase gates G1-G6; the suite runs offline (--skip-live) and against live services.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AND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AI on one GPU - no API bills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3867912"/>
                <a:gridCol w="25603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 / profile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Sustains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· Laptop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RTX 4050 Laptop, 6 GB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Parasail A1(2.5)-VL-3B (qwen2.5vl:3b) · Q4 · 6k ctx · Ollama · 1-2 concurrent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Personal use, demos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· Pilot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RTX 3060/4070, 12 GB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Qwen2.5-VL-7B-AWQ · 8k ctx · vLLM · 8 concurrent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Thousands of requests/day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· Recommended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RTX 4090 / NVIDIA L4, 24 GB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Qwen2.5-VL-7B-AWQ · 16k ctx · vLLM · 32-64 concurrent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Tens of thousands/day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· Regional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2-4× L4/A10G + LB, or A100 40 GB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Qwen2.5-VL-72B-AWQ replicas + semantic cache · vLLM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Millions of requests/year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13632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405993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 per question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inference: the marginal cost of an answer is electricity.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3913632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26280" y="405993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~$16-55k/yr avoided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Per-token billing for 10k questions/day at commercial API rates.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138160" y="3913632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66760" y="405993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~$2k once + $315/yr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recommended 24 GB tier: one GPU plus power, owned outright.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53492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benefits: </a:t>
            </a:r>
            <a:pPr indent="0" marL="0"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fishers save fuel and avoid fines · the ocean gets its closures respected automatically · communities keep their knowledge in a lasting library · authorities get decisions anyone can audit.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556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Hardened for public traffic: rate limits, API-key RBAC, security headers, audit log; ships as an installable PWA with an offline app shell.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Conservation, legality and safety are built into the objective function - ParaSail cannot recommend an illegal trip under any configuration.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alignment: SDG 14 (Life Below Water)  ·  supporting: SDG 2 · 8 · 9 · 13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mandatory summit questions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· Problem   </a:t>
            </a:r>
            <a:pPr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real-time, integrated, explainable advisory system for sustainable fishing in data-poor regions.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 · Importance   </a:t>
            </a:r>
            <a:pPr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Livelihoods, food security, marine conservation and safety meet at one information gap.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96849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· Technology   </a:t>
            </a:r>
            <a:pPr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Geospatial AI (YOLOv8, ViT + LoRA, LSTM, random forest), dual-collection RAG, a self-hosted Qwen2.5-VL assistant on vLLM with a runtime model registry, open live APIs, FastAPI + PostGIS + Qdrant; hardened with rate limiting and RBAC, shipped as a PWA.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9028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 · Evidence   </a:t>
            </a:r>
            <a:pPr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environmental, biodiversity and satellite data; regulation datasets; a working system validated by six test families across six gates.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2120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Q5 · Contribution   </a:t>
            </a:r>
            <a:pPr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production-grade platform issuing sustainability-scored, explainable, conversational advisories with conservation enforced as a hard constraint - on local AI, at zero marginal cost.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 ·  Anantha Krishnan AS  ·  Naipunnya School of Management, Cherthala, India  ·  26th Digital Blue Economy Summit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ParaSail - Predictive Advisory and Retrieval-Augmented System Advancing Informed Livelihoods</dc:title>
  <dc:subject>PptxGenJS Presentation</dc:subject>
  <dc:creator>Anantha Krishnan AS</dc:creator>
  <cp:lastModifiedBy>Anantha Krishnan AS</cp:lastModifiedBy>
  <cp:revision>1</cp:revision>
  <dcterms:created xsi:type="dcterms:W3CDTF">2026-09-22T12:24:55Z</dcterms:created>
  <dcterms:modified xsi:type="dcterms:W3CDTF">2026-09-22T12:24:55Z</dcterms:modified>
</cp:coreProperties>
</file>