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ANGLE">
            <a:avLst/>
          </a:prstGeom>
          <a:solidFill>
            <a:srgbClr val="E8590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1274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ParaSail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4B8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API Architecture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35661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Reference — All Live Data Sources, Freshness Contracts &amp; Ingestion Pipeline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1.0  •  September 2026  •  Internal Technical Documentation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ANGLE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D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455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ParaSail aggregates 6 live data providers into a single advisory API.</a:t>
            </a:r>
            <a:endParaRPr lang="en-US" sz="1600" dirty="0"/>
          </a:p>
          <a:p>
            <a:pPr indent="0" marL="0">
              <a:lnSpc>
                <a:spcPts val="140"/>
              </a:lnSpc>
              <a:buNone/>
            </a:pPr>
            <a:endParaRPr lang="en-US" sz="16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Open-Meteo (Meteorological + Marine) — 13 variables, 6h freshness</a:t>
            </a:r>
            <a:endParaRPr lang="en-US" sz="16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ERDDAP / NOAA CoastWatch — SST &amp; Chlorophyll-a, 30h freshness</a:t>
            </a:r>
            <a:endParaRPr lang="en-US" sz="16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IMD — Cyclone, heavy rain, heat wave alerts</a:t>
            </a:r>
            <a:endParaRPr lang="en-US" sz="16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INCOIS — Tsunami, storm surge, high wave alerts</a:t>
            </a:r>
            <a:endParaRPr lang="en-US" sz="16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NDMA — Multi-hazard disaster alerts</a:t>
            </a:r>
            <a:endParaRPr lang="en-US" sz="16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 India (NDMA/IMD) — Common Alerting Protocol feeds</a:t>
            </a:r>
            <a:endParaRPr lang="en-US" sz="16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SAC (ISRO) — Satellite-based alerts</a:t>
            </a:r>
            <a:endParaRPr lang="en-US" sz="1600" dirty="0"/>
          </a:p>
          <a:p>
            <a:pPr indent="0" marL="0">
              <a:lnSpc>
                <a:spcPts val="140"/>
              </a:lnSpc>
              <a:buNone/>
            </a:pPr>
            <a:endParaRPr lang="en-US" sz="1600" dirty="0"/>
          </a:p>
          <a:p>
            <a:pPr indent="0" marL="0">
              <a:lnSpc>
                <a:spcPts val="14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endpoints are public, no API keys required. Data flows through a unified ingestion layer with disk cache, freshness contracts, and graceful degradation — never silent failure.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ANGLE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D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 Architecture — Data 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011680" cy="1005840"/>
          </a:xfrm>
          <a:prstGeom prst="ROUNDED_RECTANGLE">
            <a:avLst>
              <a:gd name="adj" fmla="val 7273"/>
            </a:avLst>
          </a:prstGeom>
          <a:solidFill>
            <a:srgbClr val="0EA5E9">
              <a:alpha val="85000"/>
            </a:srgbClr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Open-Meteo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api.open-meteo.com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880360" y="1280160"/>
            <a:ext cx="2011680" cy="1005840"/>
          </a:xfrm>
          <a:prstGeom prst="ROUNDED_RECTANGLE">
            <a:avLst>
              <a:gd name="adj" fmla="val 7273"/>
            </a:avLst>
          </a:prstGeom>
          <a:solidFill>
            <a:srgbClr val="06B6D4">
              <a:alpha val="85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80360" y="13716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Marine 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marine-api.open-meteo.com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212080" y="1280160"/>
            <a:ext cx="2011680" cy="1005840"/>
          </a:xfrm>
          <a:prstGeom prst="ROUNDED_RECTANGLE">
            <a:avLst>
              <a:gd name="adj" fmla="val 7273"/>
            </a:avLst>
          </a:prstGeom>
          <a:solidFill>
            <a:srgbClr val="0D9488">
              <a:alpha val="85000"/>
            </a:srgbClr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0" y="13716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ERDDAP / NOAA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coastwatch.noaa.gov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543800" y="1280160"/>
            <a:ext cx="2011680" cy="1005840"/>
          </a:xfrm>
          <a:prstGeom prst="ROUNDED_RECTANGLE">
            <a:avLst>
              <a:gd name="adj" fmla="val 7273"/>
            </a:avLst>
          </a:prstGeom>
          <a:solidFill>
            <a:srgbClr val="DC2626">
              <a:alpha val="8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43800" y="13716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mausam.imd.gov.in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2011680" cy="1005840"/>
          </a:xfrm>
          <a:prstGeom prst="ROUNDED_RECTANGLE">
            <a:avLst>
              <a:gd name="adj" fmla="val 7273"/>
            </a:avLst>
          </a:prstGeom>
          <a:solidFill>
            <a:srgbClr val="EA580C">
              <a:alpha val="85000"/>
            </a:srgbClr>
          </a:solidFill>
          <a:ln w="1905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incois.gov.in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80360" y="2651760"/>
            <a:ext cx="2011680" cy="1005840"/>
          </a:xfrm>
          <a:prstGeom prst="ROUNDED_RECTANGLE">
            <a:avLst>
              <a:gd name="adj" fmla="val 7273"/>
            </a:avLst>
          </a:prstGeom>
          <a:solidFill>
            <a:srgbClr val="7C3AED">
              <a:alpha val="85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NDMA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ndma.gov.in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12080" y="2651760"/>
            <a:ext cx="2011680" cy="1005840"/>
          </a:xfrm>
          <a:prstGeom prst="ROUNDED_RECTANGLE">
            <a:avLst>
              <a:gd name="adj" fmla="val 7273"/>
            </a:avLst>
          </a:prstGeom>
          <a:solidFill>
            <a:srgbClr val="DB2777">
              <a:alpha val="85000"/>
            </a:srgbClr>
          </a:solidFill>
          <a:ln w="19050">
            <a:solidFill>
              <a:srgbClr val="DB27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 India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cap.ndma.gov.in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543800" y="2651760"/>
            <a:ext cx="2011680" cy="1005840"/>
          </a:xfrm>
          <a:prstGeom prst="ROUNDED_RECTANGLE">
            <a:avLst>
              <a:gd name="adj" fmla="val 7273"/>
            </a:avLst>
          </a:prstGeom>
          <a:solidFill>
            <a:srgbClr val="16A34A">
              <a:alpha val="85000"/>
            </a:srgbClr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43800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SAC (ISRO)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sac.gov.in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3474720"/>
            <a:ext cx="5760720" cy="1097280"/>
          </a:xfrm>
          <a:prstGeom prst="ROUNDED_RECTANGLE">
            <a:avLst>
              <a:gd name="adj" fmla="val 8333"/>
            </a:avLst>
          </a:prstGeom>
          <a:solidFill>
            <a:srgbClr val="0D9488">
              <a:alpha val="90000"/>
            </a:srgbClr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383280" y="3566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Ingestion Layer (parasail/src/parasail/ingestion.py)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8328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CachedFetcher → Freshness Contracts → Disk Cache → Offline Fallback → TelemetryField / AlertItem / SourcedField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97280" y="4846320"/>
            <a:ext cx="2194560" cy="914400"/>
          </a:xfrm>
          <a:prstGeom prst="ROUNDED_RECTANGLE">
            <a:avLst>
              <a:gd name="adj" fmla="val 8000"/>
            </a:avLst>
          </a:prstGeom>
          <a:solidFill>
            <a:srgbClr val="E8590C">
              <a:alpha val="85000"/>
            </a:srgbClr>
          </a:solidFill>
          <a:ln w="19050">
            <a:solidFill>
              <a:srgbClr val="E859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972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59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859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859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(weather + catch + ecological)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0" y="4846320"/>
            <a:ext cx="2194560" cy="914400"/>
          </a:xfrm>
          <a:prstGeom prst="ROUNDED_RECTANGLE">
            <a:avLst>
              <a:gd name="adj" fmla="val 8000"/>
            </a:avLst>
          </a:prstGeom>
          <a:solidFill>
            <a:srgbClr val="0D9488">
              <a:alpha val="85000"/>
            </a:srgbClr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/ Retrieval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(spatial-filtered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corpus)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132320" y="4846320"/>
            <a:ext cx="2194560" cy="914400"/>
          </a:xfrm>
          <a:prstGeom prst="ROUNDED_RECTANGLE">
            <a:avLst>
              <a:gd name="adj" fmla="val 8000"/>
            </a:avLst>
          </a:prstGeom>
          <a:solidFill>
            <a:srgbClr val="7C3AED">
              <a:alpha val="85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Assistant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(Qwen2.5-VL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Ollama/vLLM)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149840" y="4846320"/>
            <a:ext cx="2194560" cy="914400"/>
          </a:xfrm>
          <a:prstGeom prst="ROUNDED_RECTANGLE">
            <a:avLst>
              <a:gd name="adj" fmla="val 8000"/>
            </a:avLst>
          </a:prstGeom>
          <a:solidFill>
            <a:srgbClr val="0D9488">
              <a:alpha val="85000"/>
            </a:srgbClr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4984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(FastAPI + PWA)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554480" y="2286000"/>
            <a:ext cx="0" cy="109728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886200" y="2286000"/>
            <a:ext cx="0" cy="109728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286000"/>
            <a:ext cx="0" cy="109728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549640" y="2286000"/>
            <a:ext cx="0" cy="109728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554480" y="3657600"/>
            <a:ext cx="0" cy="-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886200" y="3657600"/>
            <a:ext cx="0" cy="-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657600"/>
            <a:ext cx="0" cy="-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8549640" y="3657600"/>
            <a:ext cx="0" cy="-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080760" y="4572000"/>
            <a:ext cx="0" cy="18288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80760" y="5303520"/>
            <a:ext cx="-38862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080760" y="5303520"/>
            <a:ext cx="-86868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080760" y="5303520"/>
            <a:ext cx="214884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080760" y="5303520"/>
            <a:ext cx="516636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ANGLE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D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Open-Meteo — Meteorological &amp; Marine Forecasts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029200" cy="5029200"/>
          </a:xfrm>
          <a:prstGeom prst="ROUNDED_RECTANGLE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(config.yaml)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URL (weather):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https://api.open-meteo.com/v1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URL (marine):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https://marine-api.open-meteo.com/v1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Freshness: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6 hours (cached)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dir: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.cache/open-meteo/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Timeout: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20 seconds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E859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Batched requests: up to 100 points per call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Chunked by 100 points for large grids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variable group degrades independently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188720"/>
            <a:ext cx="5303520" cy="5029200"/>
          </a:xfrm>
          <a:prstGeom prst="ROUNDED_RECTANGLE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280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Variables Requested (13 total)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75488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731520"/>
                <a:gridCol w="10058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Group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Variables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Endpoint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Used By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 Weather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wind_speed_10m, wind_gusts_10m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forecast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Advisory W-score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 Marine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wave_height, sea_surface_temperature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marine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Advisory W-score + Suggestions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 Weather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wind_direction_10m, surface_pressure, temperature_2m, relative_humidity_2m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forecast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 Telemetry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 Marine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wave_period, wave_direction, ocean_current_velocity, ocean_current_direction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marine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 Telemetry + Suggestions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Output: TelemetryField per variable with fetched_at, age_hours, stale flag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ANGLE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D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ERDDAP / NOAA CoastWatch — Satellite Ocean Data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029200" cy="5029200"/>
          </a:xfrm>
          <a:prstGeom prst="ROUNDED_RECTANGLE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URL: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https://coastwatch.noaa.gov/erddap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Freshness: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30 hours (daily composites)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dir: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.cache/erddap/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Timeout: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20 seconds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E859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Query: bbox + variable + time slice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Returns gridded JSON (rows with lat/lon/value)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188720"/>
            <a:ext cx="5303520" cy="5029200"/>
          </a:xfrm>
          <a:prstGeom prst="ROUNDED_RECTANGLE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280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Common Datasets (examples)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754880" cy="256032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914400"/>
                <a:gridCol w="10972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Dataset ID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Variable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Resolution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Coverage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noaa_nesdis_sst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0.01 deg (~1 km)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Global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noaa_nesdis_chlor_a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chlorophyll_a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km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Global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jpl_mur_sst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analysed_sst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0.01 deg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Global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erdta_sst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0.025 deg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Indian Ocean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675120" y="4663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Output: SourcedField with fetched_at, age_hours, stale flag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675120" y="51206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Copernicus Marine (CMEMS) is configured but requires auth — currently not enabled in production. ERDDAP serves as the primary satellite SST/chl-a source.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ANGLE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Security &amp; Disaster Alerts — 5 Indian Government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247120" cy="914400"/>
          </a:xfrm>
          <a:prstGeom prst="ROUNDED_RECTANGLE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325880"/>
            <a:ext cx="73152" cy="640080"/>
          </a:xfrm>
          <a:prstGeom prst="RECTANGLE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IMD — India Meteorological Department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Cyclone, Heavy Rain, Heat Wave, Thunderstorm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0" y="13716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https://mausam.imd.gov.in/backend/api/cap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11247120" cy="914400"/>
          </a:xfrm>
          <a:prstGeom prst="ROUNDED_RECTANGLE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" y="2331720"/>
            <a:ext cx="73152" cy="640080"/>
          </a:xfrm>
          <a:prstGeom prst="RECTANGLE">
            <a:avLst/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286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INCOIS — Indian National Centre for Ocean Information Services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Tsunami, Storm Surge, High Waves, Swell Surge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23774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https://incois.gov.in/api/alerts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11247120" cy="914400"/>
          </a:xfrm>
          <a:prstGeom prst="ROUNDED_RECTANGLE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" y="3337560"/>
            <a:ext cx="73152" cy="640080"/>
          </a:xfrm>
          <a:prstGeom prst="RECTANGL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291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NDMA — National Disaster Management Authority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Multi-hazard: Flood, Landslide, Earthquake, Cyclone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0" y="33832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https://ndma.gov.in/api/alerts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11247120" cy="914400"/>
          </a:xfrm>
          <a:prstGeom prst="ROUNDED_RECTANGLE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4343400"/>
            <a:ext cx="73152" cy="640080"/>
          </a:xfrm>
          <a:prstGeom prst="RECTANGLE">
            <a:avLst/>
          </a:prstGeom>
          <a:solidFill>
            <a:srgbClr val="DB2777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297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 India — Common Alerting Protocol (NDMA/IMD)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4617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Standardized CAP/XML feeds from all agencies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26480" y="43891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https://cap.ndma.gov.in/feed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212080"/>
            <a:ext cx="11247120" cy="914400"/>
          </a:xfrm>
          <a:prstGeom prst="ROUNDED_RECTANGLE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4360" y="5349240"/>
            <a:ext cx="73152" cy="640080"/>
          </a:xfrm>
          <a:prstGeom prst="RECTANGLE">
            <a:avLst/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303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SAC — Space Applications Centre (ISRO)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623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Satellite-based: Cyclone track, Flood extent, Ocean state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26480" y="53949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https://sac.gov.in/api/alerts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5577840"/>
            <a:ext cx="11247120" cy="548640"/>
          </a:xfrm>
          <a:prstGeom prst="ROUNDED_RECTANGLE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 Freshness: 1 hour  |  Timeout: 15s per source  |  Cache: .cache/alerts/  |  Coastal keyword filter applied for user's region (bbox + district match)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ANGLE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D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Request Flow — Streamlined Access to All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22860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1325880"/>
            <a:ext cx="411480" cy="411480"/>
          </a:xfrm>
          <a:prstGeom prst="OVAL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54480" y="135331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Request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/api/advice with {lat, lon, species, date, time}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188720"/>
            <a:ext cx="2560320" cy="22860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325880"/>
            <a:ext cx="411480" cy="411480"/>
          </a:xfrm>
          <a:prstGeom prst="OVAL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135331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74720" y="13258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47472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Resolution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Config-driven 0.1 deg grid over Indian coast bbox [68, 6, 90, 23.5]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188720"/>
            <a:ext cx="2560320" cy="22860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23760" y="1325880"/>
            <a:ext cx="411480" cy="411480"/>
          </a:xfrm>
          <a:prstGeom prst="OVAL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23760" y="135331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09360" y="13258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30936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 Fetch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09360" y="22402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Open-Meteo (4 groups) + ERDDAP + 5 Alert sources — all async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61120" y="1188720"/>
            <a:ext cx="2560320" cy="22860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058400" y="1325880"/>
            <a:ext cx="411480" cy="411480"/>
          </a:xfrm>
          <a:prstGeom prst="OVAL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135331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44000" y="13258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⏱️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14400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Freshness Check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0" y="22402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CachedFetcher validates age &lt;= freshness_hours; else live fetch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840480"/>
            <a:ext cx="2560320" cy="22860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554480" y="3977640"/>
            <a:ext cx="411480" cy="411480"/>
          </a:xfrm>
          <a:prstGeom prst="OVAL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00507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0080" y="39776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40080" y="4480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Spatial Filter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4892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RAG: point_in_bbox() — only passages in user's region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91840" y="3840480"/>
            <a:ext cx="2560320" cy="22860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9120" y="3977640"/>
            <a:ext cx="411480" cy="411480"/>
          </a:xfrm>
          <a:prstGeom prst="OVAL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400507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3474720" y="39776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⚖️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3474720" y="4480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Advisory Scoring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474720" y="4892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Weights: catch 45% + weather 25% + ecological 30% → class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126480" y="3840480"/>
            <a:ext cx="2560320" cy="22860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223760" y="3977640"/>
            <a:ext cx="411480" cy="411480"/>
          </a:xfrm>
          <a:prstGeom prst="OVAL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23760" y="400507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309360" y="39776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6309360" y="4480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Summary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309360" y="4892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LLM (Qwen2.5-VL) cites passages; class-consistency guard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961120" y="3840480"/>
            <a:ext cx="2560320" cy="22860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0058400" y="3977640"/>
            <a:ext cx="411480" cy="411480"/>
          </a:xfrm>
          <a:prstGeom prst="OVAL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058400" y="400507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9144000" y="39776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📤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9144000" y="4480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44000" y="4892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Telemetry (age_hours=0 live), alerts, advisory class, suggestions, citations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ANGLE">
            <a:avLst/>
          </a:prstGeom>
          <a:solidFill>
            <a:srgbClr val="E8590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D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Freshness Contracts &amp; Caching — No Silent Stale Data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41148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828800"/>
                <a:gridCol w="22860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Freshness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Cache Dir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Offline Policy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Output Fields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Open-Meteo (weather)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hours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.cache/open-meteo/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 cached + age flag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 TelemetryField vars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Open-Meteo (marine)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hours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.cache/open-meteo/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 cached + age flag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marine vars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ERDDAP (SST/chl-a)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hours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.cache/erddap/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 cached + age flag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SourcedField per grid cell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IMD Alerts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.cache/alerts/imd.json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 cached (no age bump)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AlertItem[]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INCOIS Alerts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.cache/alerts/incois.json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 cached (no age bump)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AlertItem[]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NDMA Alerts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.cache/alerts/ndma.json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 cached (no age bump)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AlertItem[]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 India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.cache/alerts/cap_india.json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 cached (no age bump)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AlertItem[]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SAC Alerts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.cache/alerts/sac.json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 cached (no age bump)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AlertItem[]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5778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Principles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594360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field carries fetched_at (ISO-8601), age_hours (float), stale (boolean) — exact provenance</a:t>
            </a:r>
            <a:endParaRPr lang="en-US" sz="12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fetch attempted first; cache only on timeout/error/rate-limit — never serve stale by default</a:t>
            </a:r>
            <a:endParaRPr lang="en-US" sz="12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age_hours = 0.0 means live fetch; &gt;0 means served from cache with known age</a:t>
            </a:r>
            <a:endParaRPr lang="en-US" sz="12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stale=true flags cached data served during outage — dashboard shows 'cached X hrs ago'</a:t>
            </a:r>
            <a:endParaRPr lang="en-US" sz="1200" dirty="0"/>
          </a:p>
          <a:p>
            <a:pPr marL="152400" indent="-152400">
              <a:lnSpc>
                <a:spcPts val="14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policy: serve_cached_with_age_flag (config.yaml) — graceful degradation, never silent failure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ANGLE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D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— Single Source of Truth (config.yaml)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303520" cy="5029200"/>
          </a:xfrm>
          <a:prstGeom prst="ROUNDED_RECTANGLE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80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 &amp; Grid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bbox: [68.0, 6.0, 90.0, 23.5]</a:t>
            </a:r>
            <a:endParaRPr lang="en-US" sz="1300" dirty="0"/>
          </a:p>
          <a:p>
            <a:pPr indent="0" marL="0">
              <a:lnSpc>
                <a:spcPts val="15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grid: {res_deg: 0.10, step_hours: 1}</a:t>
            </a:r>
            <a:endParaRPr lang="en-US" sz="1300" dirty="0"/>
          </a:p>
          <a:p>
            <a:pPr indent="0" marL="0">
              <a:lnSpc>
                <a:spcPts val="15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 coastal locations across 9 states</a:t>
            </a:r>
            <a:endParaRPr lang="en-US" sz="1300" dirty="0"/>
          </a:p>
          <a:p>
            <a:pPr indent="0" marL="0">
              <a:lnSpc>
                <a:spcPts val="15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landmarks for fish-location hints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Species Registry (12 species)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Penaeus monodon (Tiger prawn)</a:t>
            </a:r>
            <a:endParaRPr lang="en-US" sz="12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Scomberomorus commerson (Seer fish)</a:t>
            </a:r>
            <a:endParaRPr lang="en-US" sz="12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Katsuwonus pelamis (Skipjack tuna)</a:t>
            </a:r>
            <a:endParaRPr lang="en-US" sz="12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Euthynnus affinis (Kawakawa)</a:t>
            </a:r>
            <a:endParaRPr lang="en-US" sz="12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Stolephorus commersonnii (Anchovy)</a:t>
            </a:r>
            <a:endParaRPr lang="en-US" sz="12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Trichiurus lepturus (Ribbonfish)</a:t>
            </a:r>
            <a:endParaRPr lang="en-US" sz="12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Decapterus russelli (Indian scad)</a:t>
            </a:r>
            <a:endParaRPr lang="en-US" sz="12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Lutjanus malabaricus (Malabar snapper)</a:t>
            </a:r>
            <a:endParaRPr lang="en-US" sz="12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Fenneropenaeus indicus (White prawn)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0" y="1188720"/>
            <a:ext cx="5120640" cy="5029200"/>
          </a:xfrm>
          <a:prstGeom prst="ROUNDED_RECTANGLE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Advisory &amp; Ingestion Config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173736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Advisory weights: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catch: 0.45 | weather: 0.25 | ecological: 0.30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Thresholds: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proceed &gt;= 0.75 | caution &gt;= 0.60 | delay &gt;= 0.40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Weather safety: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max_wind_ms: 8.0 | max_wave_height_m: 1.5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Ingestion: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open_meteo.freshness_hours: 6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erddap.freshness_hours: 30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alerts.freshness_hours: 1</a:t>
            </a:r>
            <a:endParaRPr lang="en-US" sz="13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offline_policy: serve_cached_with_age_flag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ANGLE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D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Endpoints — Single Entry Point for All Data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438912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3200400"/>
                <a:gridCol w="45720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Endpoint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Method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Sources Aggregated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 /api/advice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Full advisory + suggestions + telemetry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Open-Meteo, ERDDAP, RAG, Rules, AI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GET /api/telemetry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telemetry for a point/grid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Open-Meteo (13 vars), ERDDAP (SST/chl-a)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GET /api/alerts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Disaster alerts for region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IMD, INCOIS, NDMA, CAP India, SAC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 /api/assistant/ask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Grounded Q&amp;A over retrieval corpus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RAG (Qdrant) + AI (Qwen2.5-VL)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 /api/assistant/summarize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Plain-language advisory summary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RAG + AI with class-consistency guard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GET /admin/stats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GET (X-API-Key)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System health &amp; service status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DB, Qdrant, Ollama, Docker, rate limits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GET /health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Liveness probe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Basic service check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Telemetry Response — Exact Provenance Per Field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612648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"wind_speed_10m": { "value": 4.2, "source": "open-meteo", "ts": "2026-09-26T10:00:00Z",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"fetched_at": "2026-09-26T10:05:12Z", "age_hours": 0.0, "stale": false },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"wave_height": { "value": 0.8, "source": "open-meteo", "ts": "2026-09-26T10:00:00Z",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"fetched_at": "2026-09-26T10:05:12Z", "age_hours": 0.0, "stale": false },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"sst": { "value": 28.4, "source": "erddap", "ts": "2026-09-26T00:00:00Z",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"fetched_at": "2026-09-26T10:05:15Z", "age_hours": 2.1, "stale": false }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ANGLE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D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Specifications &amp; Operational Parameters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530352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6675120"/>
              </a:tblGrid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Category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Parameter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Value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Server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Framework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FastAPI (uvicorn) on 0.0.0.0:8000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Server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Workers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(async) — horizontal scale via replicas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Server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Rate Limit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Sliding window: 60 req/min (public), 300 req/min (officer), 1000 req/min (admin)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Database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Engine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PostgreSQL 16 + PostGIS 3.4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Database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Connection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pool=5, connect_timeout=3s, IPv4 only (127.0.0.1)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Vector DB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Engine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Qdrant 1.8+ (HTTP API on 127.0.0.1:6333)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Vector DB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Collections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parasail_text (384-d MiniLM), parasail_sat (512-d CLIP)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Active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Parasail A1(2.5)-VL-3B (qwen2.5vl:3b via Ollama)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Backend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Ollama (keep_alive=-1 → 24/7 in VRAM) + vLLM fallback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VRAM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GB (RTX 4050 laptop class)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Grounding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Citations required [1]..[n]; class-consistency guard; refusal over hallucination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Tier 1 — Laptop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Parasail A1(2.5)-VL-3B | qwen2.5vl:3b | Ollama | 6 GB VRAM | 2.5 GB DL | Fastest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Tier 2 — Reference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Qwen2.5-VL-7B-AWQ | Qwen/Qwen2.5-VL-7B-Instruct-AWQ | vLLM | 12 GB VRAM | 6.9 GB DL | Best quality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Tier 3 — Local 7B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Qwen2.5-VL-7B | qwen2.5vl:7b | Ollama | 10 GB VRAM | 6.0 GB DL | Simplest setup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Tier 4 — Datacenter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Qwen2.5-VL-72B-AWQ | Qwen/Qwen2.5-VL-72B-Instruct-AWQ | vLLM | 48 GB VRAM | 41 GB DL | Multi-GPU regional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Top-k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(widened pool: max(k*6, 24) for spatial filtering)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Spatial 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point_in_bbox() — bbox from config.yaml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Cache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Open-Meteo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6h freshness, disk cache in .cache/open-meteo/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Cache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ERDDAP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30h freshness, disk cache in .cache/erddap/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Cache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1h freshness, disk cache in .cache/alerts/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PWA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 Worker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Workbox — offline-first, installable on Android/iOS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PWA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Tailscale Funnel (production) / localhost (dev)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Security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RBAC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public / officer / admin via X-API-Key (SHA-256 hashed)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Security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CSP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Strict: script-src 'self'; connect-src 'self' https://*.open-meteo.com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Deployment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Orchestration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docker-compose: api, db, qdrant, ollama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4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Deployment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24/7 Ops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start_all.bat / stop_all.bat (admin check, hard kill)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D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ANGLE">
            <a:avLst/>
          </a:prstGeom>
          <a:solidFill>
            <a:srgbClr val="E8590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ParaSail Data Sources &amp; API Architecture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sources public · No API keys · Freshness-tracked · Spatially filtered · Grounded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11274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Config: parasail/config.yaml</a:t>
            </a:r>
            <a:endParaRPr lang="en-US" sz="1400" dirty="0"/>
          </a:p>
          <a:p>
            <a:pPr algn="ctr" indent="0" marL="0">
              <a:lnSpc>
                <a:spcPts val="15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Ingestion: parasail/src/parasail/ingestion.py</a:t>
            </a:r>
            <a:endParaRPr lang="en-US" sz="1400" dirty="0"/>
          </a:p>
          <a:p>
            <a:pPr algn="ctr" indent="0" marL="0">
              <a:lnSpc>
                <a:spcPts val="15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Retrieval: parasail/src/parasail/rag.py</a:t>
            </a:r>
            <a:endParaRPr lang="en-US" sz="1400" dirty="0"/>
          </a:p>
          <a:p>
            <a:pPr algn="ctr" indent="0" marL="0">
              <a:lnSpc>
                <a:spcPts val="15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Assistant: parasail/src/parasail/assistant.py</a:t>
            </a:r>
            <a:endParaRPr lang="en-US" sz="1400" dirty="0"/>
          </a:p>
          <a:p>
            <a:pPr algn="ctr" indent="0" marL="0">
              <a:lnSpc>
                <a:spcPts val="15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API: parasail/src/parasail/api.py</a:t>
            </a:r>
            <a:endParaRPr lang="en-US" sz="1400" dirty="0"/>
          </a:p>
          <a:p>
            <a:pPr algn="ctr" indent="0" marL="0">
              <a:lnSpc>
                <a:spcPts val="15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Deploy: parasail/scripts/start_all.bat | stop_all.bat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566928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for 24/7 self-hosted operation on commodity hardware (RTX 4050 class)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ParaSail Data Sources &amp; API Architecture</dc:title>
  <dc:subject>PptxGenJS Presentation</dc:subject>
  <dc:creator>ParaSail Team</dc:creator>
  <cp:lastModifiedBy>ParaSail Team</cp:lastModifiedBy>
  <cp:revision>1</cp:revision>
  <dcterms:created xsi:type="dcterms:W3CDTF">2026-09-26T05:05:29Z</dcterms:created>
  <dcterms:modified xsi:type="dcterms:W3CDTF">2026-09-26T05:05:29Z</dcterms:modified>
</cp:coreProperties>
</file>